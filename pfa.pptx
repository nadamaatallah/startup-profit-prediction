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anva Sans Bold" panose="020B0604020202020204" charset="0"/>
      <p:regular r:id="rId24"/>
    </p:embeddedFont>
    <p:embeddedFont>
      <p:font typeface="League Spartan" panose="020B0604020202020204" charset="0"/>
      <p:regular r:id="rId25"/>
    </p:embeddedFont>
    <p:embeddedFont>
      <p:font typeface="Poppins" panose="00000500000000000000" pitchFamily="2" charset="0"/>
      <p:regular r:id="rId26"/>
    </p:embeddedFont>
    <p:embeddedFont>
      <p:font typeface="Poppins Bold" panose="00000800000000000000" charset="0"/>
      <p:regular r:id="rId27"/>
    </p:embeddedFont>
    <p:embeddedFont>
      <p:font typeface="Roboto Bold" panose="020B0604020202020204" charset="0"/>
      <p:regular r:id="rId28"/>
    </p:embeddedFont>
    <p:embeddedFont>
      <p:font typeface="Roboto Mono" panose="00000009000000000000" pitchFamily="49" charset="0"/>
      <p:regular r:id="rId29"/>
    </p:embeddedFont>
    <p:embeddedFont>
      <p:font typeface="Roboto Mono 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svg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12" Type="http://schemas.openxmlformats.org/officeDocument/2006/relationships/image" Target="../media/image2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Relationship Id="rId1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9.svg"/><Relationship Id="rId7" Type="http://schemas.openxmlformats.org/officeDocument/2006/relationships/image" Target="../media/image3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3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9.svg"/><Relationship Id="rId7" Type="http://schemas.openxmlformats.org/officeDocument/2006/relationships/image" Target="../media/image4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1.png"/><Relationship Id="rId10" Type="http://schemas.openxmlformats.org/officeDocument/2006/relationships/image" Target="../media/image45.sv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4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0" y="9594735"/>
            <a:ext cx="21651001" cy="738865"/>
            <a:chOff x="0" y="0"/>
            <a:chExt cx="5702321" cy="1945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02321" cy="194598"/>
            </a:xfrm>
            <a:custGeom>
              <a:avLst/>
              <a:gdLst/>
              <a:ahLst/>
              <a:cxnLst/>
              <a:rect l="l" t="t" r="r" b="b"/>
              <a:pathLst>
                <a:path w="5702321" h="194598">
                  <a:moveTo>
                    <a:pt x="0" y="0"/>
                  </a:moveTo>
                  <a:lnTo>
                    <a:pt x="5702321" y="0"/>
                  </a:lnTo>
                  <a:lnTo>
                    <a:pt x="5702321" y="194598"/>
                  </a:lnTo>
                  <a:lnTo>
                    <a:pt x="0" y="194598"/>
                  </a:ln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696CC">
                    <a:alpha val="100000"/>
                  </a:srgbClr>
                </a:gs>
                <a:gs pos="100000">
                  <a:srgbClr val="1B68C9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702321" cy="232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520372" y="3677684"/>
            <a:ext cx="5767628" cy="5767628"/>
            <a:chOff x="0" y="0"/>
            <a:chExt cx="7690170" cy="769017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7690170" cy="7690170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B68C9">
                      <a:alpha val="100000"/>
                    </a:srgbClr>
                  </a:gs>
                  <a:gs pos="50000">
                    <a:srgbClr val="6797C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57202" y="257202"/>
              <a:ext cx="7175767" cy="7175767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  <a:ln w="1143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sp>
        <p:nvSpPr>
          <p:cNvPr id="12" name="Freeform 12"/>
          <p:cNvSpPr/>
          <p:nvPr/>
        </p:nvSpPr>
        <p:spPr>
          <a:xfrm rot="5400000">
            <a:off x="17185887" y="8734425"/>
            <a:ext cx="665631" cy="775117"/>
          </a:xfrm>
          <a:custGeom>
            <a:avLst/>
            <a:gdLst/>
            <a:ahLst/>
            <a:cxnLst/>
            <a:rect l="l" t="t" r="r" b="b"/>
            <a:pathLst>
              <a:path w="665631" h="775117">
                <a:moveTo>
                  <a:pt x="0" y="0"/>
                </a:moveTo>
                <a:lnTo>
                  <a:pt x="665631" y="0"/>
                </a:lnTo>
                <a:lnTo>
                  <a:pt x="665631" y="775117"/>
                </a:lnTo>
                <a:lnTo>
                  <a:pt x="0" y="775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1036781" y="4396220"/>
            <a:ext cx="10096969" cy="1464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6"/>
              </a:lnSpc>
            </a:pPr>
            <a:r>
              <a:rPr lang="en-US" sz="5800">
                <a:solidFill>
                  <a:srgbClr val="3C7C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Apprentissage statistique et régression linéaire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7624" y="6237965"/>
            <a:ext cx="10835283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3036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Application à la prédiction du profit des startups</a:t>
            </a:r>
          </a:p>
        </p:txBody>
      </p:sp>
      <p:sp>
        <p:nvSpPr>
          <p:cNvPr id="15" name="Freeform 15"/>
          <p:cNvSpPr/>
          <p:nvPr/>
        </p:nvSpPr>
        <p:spPr>
          <a:xfrm>
            <a:off x="827556" y="398274"/>
            <a:ext cx="3097128" cy="1900862"/>
          </a:xfrm>
          <a:custGeom>
            <a:avLst/>
            <a:gdLst/>
            <a:ahLst/>
            <a:cxnLst/>
            <a:rect l="l" t="t" r="r" b="b"/>
            <a:pathLst>
              <a:path w="3097128" h="1900862">
                <a:moveTo>
                  <a:pt x="0" y="0"/>
                </a:moveTo>
                <a:lnTo>
                  <a:pt x="3097128" y="0"/>
                </a:lnTo>
                <a:lnTo>
                  <a:pt x="3097128" y="1900862"/>
                </a:lnTo>
                <a:lnTo>
                  <a:pt x="0" y="19008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16" name="Group 16"/>
          <p:cNvGrpSpPr/>
          <p:nvPr/>
        </p:nvGrpSpPr>
        <p:grpSpPr>
          <a:xfrm>
            <a:off x="1028700" y="8019776"/>
            <a:ext cx="3637358" cy="913679"/>
            <a:chOff x="0" y="0"/>
            <a:chExt cx="4849811" cy="1218239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47625"/>
              <a:ext cx="2211466" cy="493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3C7CC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Réalisé par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724420"/>
              <a:ext cx="4849811" cy="493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30364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KATRNADA MAATALLAH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50097" y="8019776"/>
            <a:ext cx="2693903" cy="913679"/>
            <a:chOff x="0" y="0"/>
            <a:chExt cx="3591870" cy="1218239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47625"/>
              <a:ext cx="2387165" cy="493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3C7CC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Encadré par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724420"/>
              <a:ext cx="3591870" cy="493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30364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YOUSRI SLAOUI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812994" y="9765730"/>
            <a:ext cx="466201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Année universitaire : 2025/2026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27376" y="896458"/>
            <a:ext cx="7833247" cy="90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100">
                <a:solidFill>
                  <a:srgbClr val="1F2023"/>
                </a:solidFill>
                <a:latin typeface="Poppins"/>
                <a:ea typeface="Poppins"/>
                <a:cs typeface="Poppins"/>
                <a:sym typeface="Poppins"/>
              </a:rPr>
              <a:t>Projet de fin d’Études </a:t>
            </a:r>
          </a:p>
          <a:p>
            <a:pPr algn="ctr">
              <a:lnSpc>
                <a:spcPts val="2372"/>
              </a:lnSpc>
            </a:pPr>
            <a:r>
              <a:rPr lang="en-US" sz="2100">
                <a:solidFill>
                  <a:srgbClr val="1F2023"/>
                </a:solidFill>
                <a:latin typeface="Poppins"/>
                <a:ea typeface="Poppins"/>
                <a:cs typeface="Poppins"/>
                <a:sym typeface="Poppins"/>
              </a:rPr>
              <a:t>En vue de l’obtention du diplôme de Licence Mathématiques parcours Statistique et Applications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959285" y="206191"/>
            <a:ext cx="2946976" cy="2285029"/>
          </a:xfrm>
          <a:custGeom>
            <a:avLst/>
            <a:gdLst/>
            <a:ahLst/>
            <a:cxnLst/>
            <a:rect l="l" t="t" r="r" b="b"/>
            <a:pathLst>
              <a:path w="2946976" h="2285029">
                <a:moveTo>
                  <a:pt x="0" y="0"/>
                </a:moveTo>
                <a:lnTo>
                  <a:pt x="2946976" y="0"/>
                </a:lnTo>
                <a:lnTo>
                  <a:pt x="2946976" y="2285029"/>
                </a:lnTo>
                <a:lnTo>
                  <a:pt x="0" y="22850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616"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rot="5400000">
            <a:off x="16449867" y="733051"/>
            <a:ext cx="891758" cy="1038437"/>
          </a:xfrm>
          <a:custGeom>
            <a:avLst/>
            <a:gdLst/>
            <a:ahLst/>
            <a:cxnLst/>
            <a:rect l="l" t="t" r="r" b="b"/>
            <a:pathLst>
              <a:path w="891758" h="1038437">
                <a:moveTo>
                  <a:pt x="0" y="0"/>
                </a:moveTo>
                <a:lnTo>
                  <a:pt x="891759" y="0"/>
                </a:lnTo>
                <a:lnTo>
                  <a:pt x="891759" y="1038438"/>
                </a:lnTo>
                <a:lnTo>
                  <a:pt x="0" y="1038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19311" y="2345246"/>
          <a:ext cx="9917056" cy="7236665"/>
        </p:xfrm>
        <a:graphic>
          <a:graphicData uri="http://schemas.openxmlformats.org/drawingml/2006/table">
            <a:tbl>
              <a:tblPr/>
              <a:tblGrid>
                <a:gridCol w="175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3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29205">
                <a:tc>
                  <a:txBody>
                    <a:bodyPr/>
                    <a:lstStyle/>
                    <a:p>
                      <a:pPr algn="l">
                        <a:lnSpc>
                          <a:spcPts val="5724"/>
                        </a:lnSpc>
                        <a:defRPr/>
                      </a:pP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1F202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Cadre général du stage</a:t>
                      </a: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lnSpc>
                          <a:spcPts val="5724"/>
                        </a:lnSpc>
                        <a:defRPr/>
                      </a:pP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1F202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Contexte du projet</a:t>
                      </a: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lnSpc>
                          <a:spcPts val="5724"/>
                        </a:lnSpc>
                        <a:defRPr/>
                      </a:pP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1F202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Cadre théorique</a:t>
                      </a: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lnSpc>
                          <a:spcPts val="5724"/>
                        </a:lnSpc>
                        <a:defRPr/>
                      </a:pP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1F202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Préparation et exploration des données</a:t>
                      </a: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lnSpc>
                          <a:spcPts val="5724"/>
                        </a:lnSpc>
                        <a:defRPr/>
                      </a:pP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1F202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Modélisation et résultats</a:t>
                      </a: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6860">
                <a:tc>
                  <a:txBody>
                    <a:bodyPr/>
                    <a:lstStyle/>
                    <a:p>
                      <a:pPr algn="l">
                        <a:lnSpc>
                          <a:spcPts val="5724"/>
                        </a:lnSpc>
                        <a:defRPr/>
                      </a:pP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1F202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Conclusion et perspectives</a:t>
                      </a:r>
                      <a:endParaRPr lang="en-US" sz="1100"/>
                    </a:p>
                  </a:txBody>
                  <a:tcPr marL="199726" marR="199726" marT="199726" marB="19972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6719674" y="7224757"/>
            <a:ext cx="12205333" cy="4714310"/>
          </a:xfrm>
          <a:custGeom>
            <a:avLst/>
            <a:gdLst/>
            <a:ahLst/>
            <a:cxnLst/>
            <a:rect l="l" t="t" r="r" b="b"/>
            <a:pathLst>
              <a:path w="12205333" h="4714310">
                <a:moveTo>
                  <a:pt x="0" y="0"/>
                </a:moveTo>
                <a:lnTo>
                  <a:pt x="12205333" y="0"/>
                </a:lnTo>
                <a:lnTo>
                  <a:pt x="12205333" y="4714309"/>
                </a:lnTo>
                <a:lnTo>
                  <a:pt x="0" y="47143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189996" y="2664414"/>
            <a:ext cx="6413894" cy="6413894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655320" y="655320"/>
              <a:ext cx="5039360" cy="5039360"/>
            </a:xfrm>
            <a:custGeom>
              <a:avLst/>
              <a:gdLst/>
              <a:ahLst/>
              <a:cxnLst/>
              <a:rect l="l" t="t" r="r" b="b"/>
              <a:pathLst>
                <a:path w="5039360" h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5"/>
              <a:stretch>
                <a:fillRect l="-28780" r="-28780"/>
              </a:stretch>
            </a:blipFill>
          </p:spPr>
          <p:txBody>
            <a:bodyPr/>
            <a:lstStyle/>
            <a:p>
              <a:endParaRPr lang="LID4096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696CC">
                    <a:alpha val="100000"/>
                  </a:srgbClr>
                </a:gs>
                <a:gs pos="100000">
                  <a:srgbClr val="1B68C9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108359"/>
            <a:ext cx="3078884" cy="105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7700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2449" y="2504586"/>
            <a:ext cx="1117501" cy="1069865"/>
            <a:chOff x="0" y="0"/>
            <a:chExt cx="852779" cy="8164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2779" cy="816428"/>
            </a:xfrm>
            <a:custGeom>
              <a:avLst/>
              <a:gdLst/>
              <a:ahLst/>
              <a:cxnLst/>
              <a:rect l="l" t="t" r="r" b="b"/>
              <a:pathLst>
                <a:path w="852779" h="816428">
                  <a:moveTo>
                    <a:pt x="426390" y="0"/>
                  </a:moveTo>
                  <a:cubicBezTo>
                    <a:pt x="190901" y="0"/>
                    <a:pt x="0" y="182764"/>
                    <a:pt x="0" y="408214"/>
                  </a:cubicBezTo>
                  <a:cubicBezTo>
                    <a:pt x="0" y="633664"/>
                    <a:pt x="190901" y="816428"/>
                    <a:pt x="426390" y="816428"/>
                  </a:cubicBezTo>
                  <a:cubicBezTo>
                    <a:pt x="661878" y="816428"/>
                    <a:pt x="852779" y="633664"/>
                    <a:pt x="852779" y="408214"/>
                  </a:cubicBezTo>
                  <a:cubicBezTo>
                    <a:pt x="852779" y="182764"/>
                    <a:pt x="661878" y="0"/>
                    <a:pt x="426390" y="0"/>
                  </a:cubicBezTo>
                  <a:close/>
                </a:path>
              </a:pathLst>
            </a:custGeom>
            <a:solidFill>
              <a:srgbClr val="84C0E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948" y="9865"/>
              <a:ext cx="692883" cy="730023"/>
            </a:xfrm>
            <a:prstGeom prst="rect">
              <a:avLst/>
            </a:prstGeom>
          </p:spPr>
          <p:txBody>
            <a:bodyPr lIns="53260" tIns="53260" rIns="53260" bIns="5326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3699" b="1">
                  <a:solidFill>
                    <a:srgbClr val="1F202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2449" y="4897748"/>
            <a:ext cx="1117501" cy="1069865"/>
            <a:chOff x="0" y="0"/>
            <a:chExt cx="852779" cy="8164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2779" cy="816428"/>
            </a:xfrm>
            <a:custGeom>
              <a:avLst/>
              <a:gdLst/>
              <a:ahLst/>
              <a:cxnLst/>
              <a:rect l="l" t="t" r="r" b="b"/>
              <a:pathLst>
                <a:path w="852779" h="816428">
                  <a:moveTo>
                    <a:pt x="426390" y="0"/>
                  </a:moveTo>
                  <a:cubicBezTo>
                    <a:pt x="190901" y="0"/>
                    <a:pt x="0" y="182764"/>
                    <a:pt x="0" y="408214"/>
                  </a:cubicBezTo>
                  <a:cubicBezTo>
                    <a:pt x="0" y="633664"/>
                    <a:pt x="190901" y="816428"/>
                    <a:pt x="426390" y="816428"/>
                  </a:cubicBezTo>
                  <a:cubicBezTo>
                    <a:pt x="661878" y="816428"/>
                    <a:pt x="852779" y="633664"/>
                    <a:pt x="852779" y="408214"/>
                  </a:cubicBezTo>
                  <a:cubicBezTo>
                    <a:pt x="852779" y="182764"/>
                    <a:pt x="661878" y="0"/>
                    <a:pt x="426390" y="0"/>
                  </a:cubicBezTo>
                  <a:close/>
                </a:path>
              </a:pathLst>
            </a:custGeom>
            <a:solidFill>
              <a:srgbClr val="84C0E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948" y="9865"/>
              <a:ext cx="692883" cy="730023"/>
            </a:xfrm>
            <a:prstGeom prst="rect">
              <a:avLst/>
            </a:prstGeom>
          </p:spPr>
          <p:txBody>
            <a:bodyPr lIns="53260" tIns="53260" rIns="53260" bIns="5326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3699" b="1">
                  <a:solidFill>
                    <a:srgbClr val="1F202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2449" y="6098014"/>
            <a:ext cx="1117501" cy="1069865"/>
            <a:chOff x="0" y="0"/>
            <a:chExt cx="852779" cy="8164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2779" cy="816428"/>
            </a:xfrm>
            <a:custGeom>
              <a:avLst/>
              <a:gdLst/>
              <a:ahLst/>
              <a:cxnLst/>
              <a:rect l="l" t="t" r="r" b="b"/>
              <a:pathLst>
                <a:path w="852779" h="816428">
                  <a:moveTo>
                    <a:pt x="426390" y="0"/>
                  </a:moveTo>
                  <a:cubicBezTo>
                    <a:pt x="190901" y="0"/>
                    <a:pt x="0" y="182764"/>
                    <a:pt x="0" y="408214"/>
                  </a:cubicBezTo>
                  <a:cubicBezTo>
                    <a:pt x="0" y="633664"/>
                    <a:pt x="190901" y="816428"/>
                    <a:pt x="426390" y="816428"/>
                  </a:cubicBezTo>
                  <a:cubicBezTo>
                    <a:pt x="661878" y="816428"/>
                    <a:pt x="852779" y="633664"/>
                    <a:pt x="852779" y="408214"/>
                  </a:cubicBezTo>
                  <a:cubicBezTo>
                    <a:pt x="852779" y="182764"/>
                    <a:pt x="661878" y="0"/>
                    <a:pt x="426390" y="0"/>
                  </a:cubicBezTo>
                  <a:close/>
                </a:path>
              </a:pathLst>
            </a:custGeom>
            <a:solidFill>
              <a:srgbClr val="84C0E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948" y="9865"/>
              <a:ext cx="692883" cy="730023"/>
            </a:xfrm>
            <a:prstGeom prst="rect">
              <a:avLst/>
            </a:prstGeom>
          </p:spPr>
          <p:txBody>
            <a:bodyPr lIns="53260" tIns="53260" rIns="53260" bIns="5326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3699" b="1">
                  <a:solidFill>
                    <a:srgbClr val="1F202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82449" y="7291704"/>
            <a:ext cx="1117501" cy="1069865"/>
            <a:chOff x="0" y="0"/>
            <a:chExt cx="852779" cy="81642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2779" cy="816428"/>
            </a:xfrm>
            <a:custGeom>
              <a:avLst/>
              <a:gdLst/>
              <a:ahLst/>
              <a:cxnLst/>
              <a:rect l="l" t="t" r="r" b="b"/>
              <a:pathLst>
                <a:path w="852779" h="816428">
                  <a:moveTo>
                    <a:pt x="426390" y="0"/>
                  </a:moveTo>
                  <a:cubicBezTo>
                    <a:pt x="190901" y="0"/>
                    <a:pt x="0" y="182764"/>
                    <a:pt x="0" y="408214"/>
                  </a:cubicBezTo>
                  <a:cubicBezTo>
                    <a:pt x="0" y="633664"/>
                    <a:pt x="190901" y="816428"/>
                    <a:pt x="426390" y="816428"/>
                  </a:cubicBezTo>
                  <a:cubicBezTo>
                    <a:pt x="661878" y="816428"/>
                    <a:pt x="852779" y="633664"/>
                    <a:pt x="852779" y="408214"/>
                  </a:cubicBezTo>
                  <a:cubicBezTo>
                    <a:pt x="852779" y="182764"/>
                    <a:pt x="661878" y="0"/>
                    <a:pt x="426390" y="0"/>
                  </a:cubicBezTo>
                  <a:close/>
                </a:path>
              </a:pathLst>
            </a:custGeom>
            <a:solidFill>
              <a:srgbClr val="84C0E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948" y="9865"/>
              <a:ext cx="692883" cy="730023"/>
            </a:xfrm>
            <a:prstGeom prst="rect">
              <a:avLst/>
            </a:prstGeom>
          </p:spPr>
          <p:txBody>
            <a:bodyPr lIns="53260" tIns="53260" rIns="53260" bIns="5326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3699" b="1">
                  <a:solidFill>
                    <a:srgbClr val="1F202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82449" y="3697448"/>
            <a:ext cx="1117501" cy="1069865"/>
            <a:chOff x="0" y="0"/>
            <a:chExt cx="852779" cy="8164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52779" cy="816428"/>
            </a:xfrm>
            <a:custGeom>
              <a:avLst/>
              <a:gdLst/>
              <a:ahLst/>
              <a:cxnLst/>
              <a:rect l="l" t="t" r="r" b="b"/>
              <a:pathLst>
                <a:path w="852779" h="816428">
                  <a:moveTo>
                    <a:pt x="426390" y="0"/>
                  </a:moveTo>
                  <a:cubicBezTo>
                    <a:pt x="190901" y="0"/>
                    <a:pt x="0" y="182764"/>
                    <a:pt x="0" y="408214"/>
                  </a:cubicBezTo>
                  <a:cubicBezTo>
                    <a:pt x="0" y="633664"/>
                    <a:pt x="190901" y="816428"/>
                    <a:pt x="426390" y="816428"/>
                  </a:cubicBezTo>
                  <a:cubicBezTo>
                    <a:pt x="661878" y="816428"/>
                    <a:pt x="852779" y="633664"/>
                    <a:pt x="852779" y="408214"/>
                  </a:cubicBezTo>
                  <a:cubicBezTo>
                    <a:pt x="852779" y="182764"/>
                    <a:pt x="661878" y="0"/>
                    <a:pt x="426390" y="0"/>
                  </a:cubicBezTo>
                  <a:close/>
                </a:path>
              </a:pathLst>
            </a:custGeom>
            <a:solidFill>
              <a:srgbClr val="84C0E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948" y="9865"/>
              <a:ext cx="692883" cy="730023"/>
            </a:xfrm>
            <a:prstGeom prst="rect">
              <a:avLst/>
            </a:prstGeom>
          </p:spPr>
          <p:txBody>
            <a:bodyPr lIns="53260" tIns="53260" rIns="53260" bIns="5326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3699" b="1">
                  <a:solidFill>
                    <a:srgbClr val="1F202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82449" y="8494918"/>
            <a:ext cx="1117501" cy="1069865"/>
            <a:chOff x="0" y="0"/>
            <a:chExt cx="852779" cy="8164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52779" cy="816428"/>
            </a:xfrm>
            <a:custGeom>
              <a:avLst/>
              <a:gdLst/>
              <a:ahLst/>
              <a:cxnLst/>
              <a:rect l="l" t="t" r="r" b="b"/>
              <a:pathLst>
                <a:path w="852779" h="816428">
                  <a:moveTo>
                    <a:pt x="426390" y="0"/>
                  </a:moveTo>
                  <a:cubicBezTo>
                    <a:pt x="190901" y="0"/>
                    <a:pt x="0" y="182764"/>
                    <a:pt x="0" y="408214"/>
                  </a:cubicBezTo>
                  <a:cubicBezTo>
                    <a:pt x="0" y="633664"/>
                    <a:pt x="190901" y="816428"/>
                    <a:pt x="426390" y="816428"/>
                  </a:cubicBezTo>
                  <a:cubicBezTo>
                    <a:pt x="661878" y="816428"/>
                    <a:pt x="852779" y="633664"/>
                    <a:pt x="852779" y="408214"/>
                  </a:cubicBezTo>
                  <a:cubicBezTo>
                    <a:pt x="852779" y="182764"/>
                    <a:pt x="661878" y="0"/>
                    <a:pt x="426390" y="0"/>
                  </a:cubicBezTo>
                  <a:close/>
                </a:path>
              </a:pathLst>
            </a:custGeom>
            <a:solidFill>
              <a:srgbClr val="84C0E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48" y="9865"/>
              <a:ext cx="692883" cy="730023"/>
            </a:xfrm>
            <a:prstGeom prst="rect">
              <a:avLst/>
            </a:prstGeom>
          </p:spPr>
          <p:txBody>
            <a:bodyPr lIns="53260" tIns="53260" rIns="53260" bIns="5326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3699" b="1">
                  <a:solidFill>
                    <a:srgbClr val="1F202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06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rot="-381786">
            <a:off x="7760980" y="6901145"/>
            <a:ext cx="12205333" cy="4714310"/>
          </a:xfrm>
          <a:custGeom>
            <a:avLst/>
            <a:gdLst/>
            <a:ahLst/>
            <a:cxnLst/>
            <a:rect l="l" t="t" r="r" b="b"/>
            <a:pathLst>
              <a:path w="12205333" h="4714310">
                <a:moveTo>
                  <a:pt x="0" y="0"/>
                </a:moveTo>
                <a:lnTo>
                  <a:pt x="12205333" y="0"/>
                </a:lnTo>
                <a:lnTo>
                  <a:pt x="12205333" y="4714310"/>
                </a:lnTo>
                <a:lnTo>
                  <a:pt x="0" y="4714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1955726" y="7946275"/>
            <a:ext cx="3849023" cy="1068104"/>
          </a:xfrm>
          <a:custGeom>
            <a:avLst/>
            <a:gdLst/>
            <a:ahLst/>
            <a:cxnLst/>
            <a:rect l="l" t="t" r="r" b="b"/>
            <a:pathLst>
              <a:path w="3849023" h="1068104">
                <a:moveTo>
                  <a:pt x="0" y="0"/>
                </a:moveTo>
                <a:lnTo>
                  <a:pt x="3849023" y="0"/>
                </a:lnTo>
                <a:lnTo>
                  <a:pt x="3849023" y="1068104"/>
                </a:lnTo>
                <a:lnTo>
                  <a:pt x="0" y="10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TextBox 5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136653"/>
            <a:ext cx="6508634" cy="187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  Cadre général du stage</a:t>
            </a:r>
          </a:p>
        </p:txBody>
      </p:sp>
      <p:sp>
        <p:nvSpPr>
          <p:cNvPr id="7" name="Freeform 7"/>
          <p:cNvSpPr/>
          <p:nvPr/>
        </p:nvSpPr>
        <p:spPr>
          <a:xfrm rot="5316555">
            <a:off x="17145548" y="9011518"/>
            <a:ext cx="650613" cy="391892"/>
          </a:xfrm>
          <a:custGeom>
            <a:avLst/>
            <a:gdLst/>
            <a:ahLst/>
            <a:cxnLst/>
            <a:rect l="l" t="t" r="r" b="b"/>
            <a:pathLst>
              <a:path w="650613" h="391892">
                <a:moveTo>
                  <a:pt x="0" y="0"/>
                </a:moveTo>
                <a:lnTo>
                  <a:pt x="650613" y="0"/>
                </a:lnTo>
                <a:lnTo>
                  <a:pt x="650613" y="391892"/>
                </a:lnTo>
                <a:lnTo>
                  <a:pt x="0" y="391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2475" b="-151872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8"/>
          <p:cNvGrpSpPr/>
          <p:nvPr/>
        </p:nvGrpSpPr>
        <p:grpSpPr>
          <a:xfrm>
            <a:off x="-805244" y="8291100"/>
            <a:ext cx="6875729" cy="916364"/>
            <a:chOff x="0" y="0"/>
            <a:chExt cx="3186267" cy="4246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86267" cy="424650"/>
            </a:xfrm>
            <a:custGeom>
              <a:avLst/>
              <a:gdLst/>
              <a:ahLst/>
              <a:cxnLst/>
              <a:rect l="l" t="t" r="r" b="b"/>
              <a:pathLst>
                <a:path w="3186267" h="424650">
                  <a:moveTo>
                    <a:pt x="2983067" y="0"/>
                  </a:moveTo>
                  <a:cubicBezTo>
                    <a:pt x="3095291" y="0"/>
                    <a:pt x="3186267" y="95061"/>
                    <a:pt x="3186267" y="212325"/>
                  </a:cubicBezTo>
                  <a:cubicBezTo>
                    <a:pt x="3186267" y="329589"/>
                    <a:pt x="3095291" y="424650"/>
                    <a:pt x="2983067" y="424650"/>
                  </a:cubicBezTo>
                  <a:lnTo>
                    <a:pt x="203200" y="424650"/>
                  </a:lnTo>
                  <a:cubicBezTo>
                    <a:pt x="90976" y="424650"/>
                    <a:pt x="0" y="329589"/>
                    <a:pt x="0" y="212325"/>
                  </a:cubicBezTo>
                  <a:cubicBezTo>
                    <a:pt x="0" y="95061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696CC">
                    <a:alpha val="100000"/>
                  </a:srgbClr>
                </a:gs>
                <a:gs pos="100000">
                  <a:srgbClr val="1B68C9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186267" cy="49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235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sz="2354" b="1" u="sng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www.univ-poitiers.fr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30991" y="2523472"/>
            <a:ext cx="5767628" cy="5767628"/>
            <a:chOff x="0" y="0"/>
            <a:chExt cx="7690170" cy="769017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690170" cy="769017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B68C9">
                      <a:alpha val="100000"/>
                    </a:srgbClr>
                  </a:gs>
                  <a:gs pos="50000">
                    <a:srgbClr val="6797C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57202" y="257202"/>
              <a:ext cx="7175767" cy="7175767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1143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827556" y="389861"/>
            <a:ext cx="2961473" cy="1817604"/>
          </a:xfrm>
          <a:custGeom>
            <a:avLst/>
            <a:gdLst/>
            <a:ahLst/>
            <a:cxnLst/>
            <a:rect l="l" t="t" r="r" b="b"/>
            <a:pathLst>
              <a:path w="2961473" h="1817604">
                <a:moveTo>
                  <a:pt x="0" y="0"/>
                </a:moveTo>
                <a:lnTo>
                  <a:pt x="2961474" y="0"/>
                </a:lnTo>
                <a:lnTo>
                  <a:pt x="2961474" y="1817604"/>
                </a:lnTo>
                <a:lnTo>
                  <a:pt x="0" y="1817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8" name="Freeform 18"/>
          <p:cNvSpPr/>
          <p:nvPr/>
        </p:nvSpPr>
        <p:spPr>
          <a:xfrm>
            <a:off x="4102941" y="206191"/>
            <a:ext cx="2817898" cy="2184944"/>
          </a:xfrm>
          <a:custGeom>
            <a:avLst/>
            <a:gdLst/>
            <a:ahLst/>
            <a:cxnLst/>
            <a:rect l="l" t="t" r="r" b="b"/>
            <a:pathLst>
              <a:path w="2817898" h="2184944">
                <a:moveTo>
                  <a:pt x="0" y="0"/>
                </a:moveTo>
                <a:lnTo>
                  <a:pt x="2817898" y="0"/>
                </a:lnTo>
                <a:lnTo>
                  <a:pt x="2817898" y="2184944"/>
                </a:lnTo>
                <a:lnTo>
                  <a:pt x="0" y="21849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16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19" name="Group 19"/>
          <p:cNvGrpSpPr/>
          <p:nvPr/>
        </p:nvGrpSpPr>
        <p:grpSpPr>
          <a:xfrm>
            <a:off x="15293508" y="2523472"/>
            <a:ext cx="1605111" cy="160511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797C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16838223" y="-992599"/>
            <a:ext cx="2386467" cy="238646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3C7CCB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727256" y="753637"/>
            <a:ext cx="1532044" cy="637696"/>
          </a:xfrm>
          <a:custGeom>
            <a:avLst/>
            <a:gdLst/>
            <a:ahLst/>
            <a:cxnLst/>
            <a:rect l="l" t="t" r="r" b="b"/>
            <a:pathLst>
              <a:path w="1532044" h="637696">
                <a:moveTo>
                  <a:pt x="0" y="0"/>
                </a:moveTo>
                <a:lnTo>
                  <a:pt x="1532044" y="0"/>
                </a:lnTo>
                <a:lnTo>
                  <a:pt x="1532044" y="637696"/>
                </a:lnTo>
                <a:lnTo>
                  <a:pt x="0" y="637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39045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-834781" y="8709789"/>
            <a:ext cx="2662757" cy="266275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765625" y="6232754"/>
            <a:ext cx="1513209" cy="1403158"/>
          </a:xfrm>
          <a:custGeom>
            <a:avLst/>
            <a:gdLst/>
            <a:ahLst/>
            <a:cxnLst/>
            <a:rect l="l" t="t" r="r" b="b"/>
            <a:pathLst>
              <a:path w="1513209" h="1403158">
                <a:moveTo>
                  <a:pt x="0" y="0"/>
                </a:moveTo>
                <a:lnTo>
                  <a:pt x="1513209" y="0"/>
                </a:lnTo>
                <a:lnTo>
                  <a:pt x="1513209" y="1403157"/>
                </a:lnTo>
                <a:lnTo>
                  <a:pt x="0" y="1403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1" name="Freeform 11"/>
          <p:cNvSpPr/>
          <p:nvPr/>
        </p:nvSpPr>
        <p:spPr>
          <a:xfrm>
            <a:off x="2453750" y="2275080"/>
            <a:ext cx="2136957" cy="1371538"/>
          </a:xfrm>
          <a:custGeom>
            <a:avLst/>
            <a:gdLst/>
            <a:ahLst/>
            <a:cxnLst/>
            <a:rect l="l" t="t" r="r" b="b"/>
            <a:pathLst>
              <a:path w="2136957" h="1371538">
                <a:moveTo>
                  <a:pt x="0" y="0"/>
                </a:moveTo>
                <a:lnTo>
                  <a:pt x="2136958" y="0"/>
                </a:lnTo>
                <a:lnTo>
                  <a:pt x="2136958" y="1371538"/>
                </a:lnTo>
                <a:lnTo>
                  <a:pt x="0" y="1371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2" name="Freeform 12"/>
          <p:cNvSpPr/>
          <p:nvPr/>
        </p:nvSpPr>
        <p:spPr>
          <a:xfrm>
            <a:off x="13574635" y="2271997"/>
            <a:ext cx="1735957" cy="1735957"/>
          </a:xfrm>
          <a:custGeom>
            <a:avLst/>
            <a:gdLst/>
            <a:ahLst/>
            <a:cxnLst/>
            <a:rect l="l" t="t" r="r" b="b"/>
            <a:pathLst>
              <a:path w="1735957" h="1735957">
                <a:moveTo>
                  <a:pt x="0" y="0"/>
                </a:moveTo>
                <a:lnTo>
                  <a:pt x="1735956" y="0"/>
                </a:lnTo>
                <a:lnTo>
                  <a:pt x="1735956" y="1735956"/>
                </a:lnTo>
                <a:lnTo>
                  <a:pt x="0" y="17359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Freeform 13"/>
          <p:cNvSpPr/>
          <p:nvPr/>
        </p:nvSpPr>
        <p:spPr>
          <a:xfrm>
            <a:off x="13751423" y="6229670"/>
            <a:ext cx="1499396" cy="1499396"/>
          </a:xfrm>
          <a:custGeom>
            <a:avLst/>
            <a:gdLst/>
            <a:ahLst/>
            <a:cxnLst/>
            <a:rect l="l" t="t" r="r" b="b"/>
            <a:pathLst>
              <a:path w="1499396" h="1499396">
                <a:moveTo>
                  <a:pt x="0" y="0"/>
                </a:moveTo>
                <a:lnTo>
                  <a:pt x="1499396" y="0"/>
                </a:lnTo>
                <a:lnTo>
                  <a:pt x="1499396" y="1499396"/>
                </a:lnTo>
                <a:lnTo>
                  <a:pt x="0" y="1499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4" name="Freeform 14"/>
          <p:cNvSpPr/>
          <p:nvPr/>
        </p:nvSpPr>
        <p:spPr>
          <a:xfrm>
            <a:off x="7241558" y="1545987"/>
            <a:ext cx="3295525" cy="7598616"/>
          </a:xfrm>
          <a:custGeom>
            <a:avLst/>
            <a:gdLst/>
            <a:ahLst/>
            <a:cxnLst/>
            <a:rect l="l" t="t" r="r" b="b"/>
            <a:pathLst>
              <a:path w="3295525" h="7598616">
                <a:moveTo>
                  <a:pt x="0" y="0"/>
                </a:moveTo>
                <a:lnTo>
                  <a:pt x="3295525" y="0"/>
                </a:lnTo>
                <a:lnTo>
                  <a:pt x="3295525" y="7598616"/>
                </a:lnTo>
                <a:lnTo>
                  <a:pt x="0" y="7598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93384" t="-59903" r="-277695" b="-3582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5" name="TextBox 15"/>
          <p:cNvSpPr txBox="1"/>
          <p:nvPr/>
        </p:nvSpPr>
        <p:spPr>
          <a:xfrm>
            <a:off x="1826146" y="7842501"/>
            <a:ext cx="3392167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Prédiction du profit de startups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9775" y="3679127"/>
            <a:ext cx="4104908" cy="121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229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Licence 3 Mathématiques</a:t>
            </a:r>
          </a:p>
          <a:p>
            <a:pPr algn="ctr">
              <a:lnSpc>
                <a:spcPts val="3213"/>
              </a:lnSpc>
            </a:pPr>
            <a:r>
              <a:rPr lang="en-US" sz="229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Parcours Statistique et Applications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67001" y="4082280"/>
            <a:ext cx="4751224" cy="126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Université de Poitiers</a:t>
            </a:r>
          </a:p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UFR Sciences Fondamentales et Appliquées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48285" y="7887586"/>
            <a:ext cx="4388655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· Jupyter Notebook</a:t>
            </a:r>
          </a:p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pandas · scikit-learn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4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rot="-381786">
            <a:off x="7760980" y="6901145"/>
            <a:ext cx="12205333" cy="4714310"/>
          </a:xfrm>
          <a:custGeom>
            <a:avLst/>
            <a:gdLst/>
            <a:ahLst/>
            <a:cxnLst/>
            <a:rect l="l" t="t" r="r" b="b"/>
            <a:pathLst>
              <a:path w="12205333" h="4714310">
                <a:moveTo>
                  <a:pt x="0" y="0"/>
                </a:moveTo>
                <a:lnTo>
                  <a:pt x="12205333" y="0"/>
                </a:lnTo>
                <a:lnTo>
                  <a:pt x="12205333" y="4714310"/>
                </a:lnTo>
                <a:lnTo>
                  <a:pt x="0" y="4714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1955726" y="7946275"/>
            <a:ext cx="3849023" cy="1068104"/>
          </a:xfrm>
          <a:custGeom>
            <a:avLst/>
            <a:gdLst/>
            <a:ahLst/>
            <a:cxnLst/>
            <a:rect l="l" t="t" r="r" b="b"/>
            <a:pathLst>
              <a:path w="3849023" h="1068104">
                <a:moveTo>
                  <a:pt x="0" y="0"/>
                </a:moveTo>
                <a:lnTo>
                  <a:pt x="3849023" y="0"/>
                </a:lnTo>
                <a:lnTo>
                  <a:pt x="3849023" y="1068104"/>
                </a:lnTo>
                <a:lnTo>
                  <a:pt x="0" y="10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TextBox 5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5</a:t>
            </a:r>
          </a:p>
        </p:txBody>
      </p:sp>
      <p:sp>
        <p:nvSpPr>
          <p:cNvPr id="6" name="Freeform 6"/>
          <p:cNvSpPr/>
          <p:nvPr/>
        </p:nvSpPr>
        <p:spPr>
          <a:xfrm rot="5316555">
            <a:off x="17145548" y="9011518"/>
            <a:ext cx="650613" cy="391892"/>
          </a:xfrm>
          <a:custGeom>
            <a:avLst/>
            <a:gdLst/>
            <a:ahLst/>
            <a:cxnLst/>
            <a:rect l="l" t="t" r="r" b="b"/>
            <a:pathLst>
              <a:path w="650613" h="391892">
                <a:moveTo>
                  <a:pt x="0" y="0"/>
                </a:moveTo>
                <a:lnTo>
                  <a:pt x="650613" y="0"/>
                </a:lnTo>
                <a:lnTo>
                  <a:pt x="650613" y="391892"/>
                </a:lnTo>
                <a:lnTo>
                  <a:pt x="0" y="391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2475" b="-151872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-805244" y="8291100"/>
            <a:ext cx="6875729" cy="916364"/>
            <a:chOff x="0" y="0"/>
            <a:chExt cx="3186267" cy="4246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6267" cy="424650"/>
            </a:xfrm>
            <a:custGeom>
              <a:avLst/>
              <a:gdLst/>
              <a:ahLst/>
              <a:cxnLst/>
              <a:rect l="l" t="t" r="r" b="b"/>
              <a:pathLst>
                <a:path w="3186267" h="424650">
                  <a:moveTo>
                    <a:pt x="2983067" y="0"/>
                  </a:moveTo>
                  <a:cubicBezTo>
                    <a:pt x="3095291" y="0"/>
                    <a:pt x="3186267" y="95061"/>
                    <a:pt x="3186267" y="212325"/>
                  </a:cubicBezTo>
                  <a:cubicBezTo>
                    <a:pt x="3186267" y="329589"/>
                    <a:pt x="3095291" y="424650"/>
                    <a:pt x="2983067" y="424650"/>
                  </a:cubicBezTo>
                  <a:lnTo>
                    <a:pt x="203200" y="424650"/>
                  </a:lnTo>
                  <a:cubicBezTo>
                    <a:pt x="90976" y="424650"/>
                    <a:pt x="0" y="329589"/>
                    <a:pt x="0" y="212325"/>
                  </a:cubicBezTo>
                  <a:cubicBezTo>
                    <a:pt x="0" y="95061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696CC">
                    <a:alpha val="100000"/>
                  </a:srgbClr>
                </a:gs>
                <a:gs pos="100000">
                  <a:srgbClr val="1B68C9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3186267" cy="49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235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sz="2354" b="1" u="sng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www.univ-poitiers.fr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130991" y="2523472"/>
            <a:ext cx="5767628" cy="5767628"/>
            <a:chOff x="0" y="0"/>
            <a:chExt cx="7690170" cy="769017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7690170" cy="769017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B68C9">
                      <a:alpha val="100000"/>
                    </a:srgbClr>
                  </a:gs>
                  <a:gs pos="50000">
                    <a:srgbClr val="6797C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57202" y="257202"/>
              <a:ext cx="7175767" cy="7175767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1143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sp>
        <p:nvSpPr>
          <p:cNvPr id="16" name="Freeform 16"/>
          <p:cNvSpPr/>
          <p:nvPr/>
        </p:nvSpPr>
        <p:spPr>
          <a:xfrm>
            <a:off x="827556" y="389861"/>
            <a:ext cx="2961473" cy="1817604"/>
          </a:xfrm>
          <a:custGeom>
            <a:avLst/>
            <a:gdLst/>
            <a:ahLst/>
            <a:cxnLst/>
            <a:rect l="l" t="t" r="r" b="b"/>
            <a:pathLst>
              <a:path w="2961473" h="1817604">
                <a:moveTo>
                  <a:pt x="0" y="0"/>
                </a:moveTo>
                <a:lnTo>
                  <a:pt x="2961474" y="0"/>
                </a:lnTo>
                <a:lnTo>
                  <a:pt x="2961474" y="1817604"/>
                </a:lnTo>
                <a:lnTo>
                  <a:pt x="0" y="1817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7" name="Freeform 17"/>
          <p:cNvSpPr/>
          <p:nvPr/>
        </p:nvSpPr>
        <p:spPr>
          <a:xfrm>
            <a:off x="4102941" y="206191"/>
            <a:ext cx="2817898" cy="2184944"/>
          </a:xfrm>
          <a:custGeom>
            <a:avLst/>
            <a:gdLst/>
            <a:ahLst/>
            <a:cxnLst/>
            <a:rect l="l" t="t" r="r" b="b"/>
            <a:pathLst>
              <a:path w="2817898" h="2184944">
                <a:moveTo>
                  <a:pt x="0" y="0"/>
                </a:moveTo>
                <a:lnTo>
                  <a:pt x="2817898" y="0"/>
                </a:lnTo>
                <a:lnTo>
                  <a:pt x="2817898" y="2184944"/>
                </a:lnTo>
                <a:lnTo>
                  <a:pt x="0" y="21849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1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8" name="TextBox 18"/>
          <p:cNvSpPr txBox="1"/>
          <p:nvPr/>
        </p:nvSpPr>
        <p:spPr>
          <a:xfrm>
            <a:off x="1028700" y="5216786"/>
            <a:ext cx="7195626" cy="146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6051"/>
              </a:lnSpc>
              <a:buFont typeface="Arial"/>
              <a:buChar char="•"/>
            </a:pPr>
            <a:r>
              <a:rPr lang="en-US" sz="3399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Problématique</a:t>
            </a:r>
          </a:p>
          <a:p>
            <a:pPr marL="734059" lvl="1" indent="-367030" algn="l">
              <a:lnSpc>
                <a:spcPts val="6051"/>
              </a:lnSpc>
              <a:buFont typeface="Arial"/>
              <a:buChar char="•"/>
            </a:pPr>
            <a:r>
              <a:rPr lang="en-US" sz="3399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 proposée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3569383"/>
            <a:ext cx="8305231" cy="920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  Contexte du projet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293508" y="2523472"/>
            <a:ext cx="1605111" cy="160511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797C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10140662" y="8394213"/>
            <a:ext cx="3420848" cy="342084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-840076" y="7448645"/>
            <a:ext cx="12880500" cy="4975093"/>
          </a:xfrm>
          <a:custGeom>
            <a:avLst/>
            <a:gdLst/>
            <a:ahLst/>
            <a:cxnLst/>
            <a:rect l="l" t="t" r="r" b="b"/>
            <a:pathLst>
              <a:path w="12880500" h="4975093">
                <a:moveTo>
                  <a:pt x="12880500" y="0"/>
                </a:moveTo>
                <a:lnTo>
                  <a:pt x="0" y="0"/>
                </a:lnTo>
                <a:lnTo>
                  <a:pt x="0" y="4975093"/>
                </a:lnTo>
                <a:lnTo>
                  <a:pt x="12880500" y="4975093"/>
                </a:lnTo>
                <a:lnTo>
                  <a:pt x="128805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7" name="Freeform 7"/>
          <p:cNvSpPr/>
          <p:nvPr/>
        </p:nvSpPr>
        <p:spPr>
          <a:xfrm>
            <a:off x="1072060" y="7922711"/>
            <a:ext cx="8411085" cy="2334076"/>
          </a:xfrm>
          <a:custGeom>
            <a:avLst/>
            <a:gdLst/>
            <a:ahLst/>
            <a:cxnLst/>
            <a:rect l="l" t="t" r="r" b="b"/>
            <a:pathLst>
              <a:path w="8411085" h="2334076">
                <a:moveTo>
                  <a:pt x="0" y="0"/>
                </a:moveTo>
                <a:lnTo>
                  <a:pt x="8411085" y="0"/>
                </a:lnTo>
                <a:lnTo>
                  <a:pt x="8411085" y="2334077"/>
                </a:lnTo>
                <a:lnTo>
                  <a:pt x="0" y="2334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8"/>
          <p:cNvGrpSpPr/>
          <p:nvPr/>
        </p:nvGrpSpPr>
        <p:grpSpPr>
          <a:xfrm>
            <a:off x="414543" y="4781365"/>
            <a:ext cx="9726119" cy="3987788"/>
            <a:chOff x="0" y="0"/>
            <a:chExt cx="2525897" cy="10356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25897" cy="1035638"/>
            </a:xfrm>
            <a:custGeom>
              <a:avLst/>
              <a:gdLst/>
              <a:ahLst/>
              <a:cxnLst/>
              <a:rect l="l" t="t" r="r" b="b"/>
              <a:pathLst>
                <a:path w="2525897" h="1035638">
                  <a:moveTo>
                    <a:pt x="58107" y="0"/>
                  </a:moveTo>
                  <a:lnTo>
                    <a:pt x="2467789" y="0"/>
                  </a:lnTo>
                  <a:cubicBezTo>
                    <a:pt x="2499881" y="0"/>
                    <a:pt x="2525897" y="26016"/>
                    <a:pt x="2525897" y="58107"/>
                  </a:cubicBezTo>
                  <a:lnTo>
                    <a:pt x="2525897" y="977531"/>
                  </a:lnTo>
                  <a:cubicBezTo>
                    <a:pt x="2525897" y="1009623"/>
                    <a:pt x="2499881" y="1035638"/>
                    <a:pt x="2467789" y="1035638"/>
                  </a:cubicBezTo>
                  <a:lnTo>
                    <a:pt x="58107" y="1035638"/>
                  </a:lnTo>
                  <a:cubicBezTo>
                    <a:pt x="26016" y="1035638"/>
                    <a:pt x="0" y="1009623"/>
                    <a:pt x="0" y="977531"/>
                  </a:cubicBezTo>
                  <a:lnTo>
                    <a:pt x="0" y="58107"/>
                  </a:lnTo>
                  <a:cubicBezTo>
                    <a:pt x="0" y="26016"/>
                    <a:pt x="26016" y="0"/>
                    <a:pt x="58107" y="0"/>
                  </a:cubicBezTo>
                  <a:close/>
                </a:path>
              </a:pathLst>
            </a:custGeom>
            <a:solidFill>
              <a:srgbClr val="3C7CCB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525897" cy="1130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</a:pPr>
              <a:r>
                <a:rPr lang="en-US" sz="3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Comment utiliser la régression linéaire</a:t>
              </a:r>
            </a:p>
            <a:p>
              <a:pPr algn="ctr">
                <a:lnSpc>
                  <a:spcPts val="4899"/>
                </a:lnSpc>
              </a:pPr>
              <a:r>
                <a:rPr lang="en-US" sz="3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pour expliquer et prédire le profit</a:t>
              </a:r>
            </a:p>
            <a:p>
              <a:pPr algn="ctr">
                <a:lnSpc>
                  <a:spcPts val="4899"/>
                </a:lnSpc>
              </a:pPr>
              <a:r>
                <a:rPr lang="en-US" sz="34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d’une startup à partir de variables financières ?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838223" y="-992599"/>
            <a:ext cx="2386467" cy="238646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7CCB">
                <a:alpha val="31765"/>
              </a:srgbClr>
            </a:solidFill>
            <a:ln w="571500" cap="sq">
              <a:solidFill>
                <a:srgbClr val="84C0E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727256" y="753637"/>
            <a:ext cx="1532044" cy="637696"/>
          </a:xfrm>
          <a:custGeom>
            <a:avLst/>
            <a:gdLst/>
            <a:ahLst/>
            <a:cxnLst/>
            <a:rect l="l" t="t" r="r" b="b"/>
            <a:pathLst>
              <a:path w="1532044" h="637696">
                <a:moveTo>
                  <a:pt x="0" y="0"/>
                </a:moveTo>
                <a:lnTo>
                  <a:pt x="1532044" y="0"/>
                </a:lnTo>
                <a:lnTo>
                  <a:pt x="1532044" y="637696"/>
                </a:lnTo>
                <a:lnTo>
                  <a:pt x="0" y="637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139045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15" name="Group 15"/>
          <p:cNvGrpSpPr/>
          <p:nvPr/>
        </p:nvGrpSpPr>
        <p:grpSpPr>
          <a:xfrm>
            <a:off x="-1260320" y="-1296018"/>
            <a:ext cx="3086100" cy="308610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1477480" y="2808666"/>
            <a:ext cx="6631714" cy="4669668"/>
          </a:xfrm>
          <a:custGeom>
            <a:avLst/>
            <a:gdLst/>
            <a:ahLst/>
            <a:cxnLst/>
            <a:rect l="l" t="t" r="r" b="b"/>
            <a:pathLst>
              <a:path w="6631714" h="4669668">
                <a:moveTo>
                  <a:pt x="0" y="0"/>
                </a:moveTo>
                <a:lnTo>
                  <a:pt x="6631714" y="0"/>
                </a:lnTo>
                <a:lnTo>
                  <a:pt x="6631714" y="4669668"/>
                </a:lnTo>
                <a:lnTo>
                  <a:pt x="0" y="46696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9" name="TextBox 19"/>
          <p:cNvSpPr txBox="1"/>
          <p:nvPr/>
        </p:nvSpPr>
        <p:spPr>
          <a:xfrm>
            <a:off x="1373040" y="1818657"/>
            <a:ext cx="4700594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Problématique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6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5847637" y="2630345"/>
            <a:ext cx="5757954" cy="5757954"/>
          </a:xfrm>
          <a:custGeom>
            <a:avLst/>
            <a:gdLst/>
            <a:ahLst/>
            <a:cxnLst/>
            <a:rect l="l" t="t" r="r" b="b"/>
            <a:pathLst>
              <a:path w="5757954" h="5757954">
                <a:moveTo>
                  <a:pt x="0" y="0"/>
                </a:moveTo>
                <a:lnTo>
                  <a:pt x="5757953" y="0"/>
                </a:lnTo>
                <a:lnTo>
                  <a:pt x="5757953" y="5757954"/>
                </a:lnTo>
                <a:lnTo>
                  <a:pt x="0" y="5757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1931479" y="6551955"/>
            <a:ext cx="2842933" cy="91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2"/>
              </a:lnSpc>
            </a:pPr>
            <a:r>
              <a:rPr lang="en-US" sz="2847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Évaluation des performances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956049" y="2593118"/>
            <a:ext cx="1928165" cy="192816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C7CCB"/>
            </a:solid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7" name="Freeform 7"/>
          <p:cNvSpPr/>
          <p:nvPr/>
        </p:nvSpPr>
        <p:spPr>
          <a:xfrm>
            <a:off x="6237555" y="2892748"/>
            <a:ext cx="1483865" cy="1318785"/>
          </a:xfrm>
          <a:custGeom>
            <a:avLst/>
            <a:gdLst/>
            <a:ahLst/>
            <a:cxnLst/>
            <a:rect l="l" t="t" r="r" b="b"/>
            <a:pathLst>
              <a:path w="1483865" h="1318785">
                <a:moveTo>
                  <a:pt x="0" y="0"/>
                </a:moveTo>
                <a:lnTo>
                  <a:pt x="1483866" y="0"/>
                </a:lnTo>
                <a:lnTo>
                  <a:pt x="1483866" y="1318785"/>
                </a:lnTo>
                <a:lnTo>
                  <a:pt x="0" y="13187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8"/>
          <p:cNvGrpSpPr/>
          <p:nvPr/>
        </p:nvGrpSpPr>
        <p:grpSpPr>
          <a:xfrm>
            <a:off x="9729282" y="2646160"/>
            <a:ext cx="1928165" cy="1928165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C7CCB"/>
            </a:solid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972174" y="2946863"/>
            <a:ext cx="1413040" cy="1264671"/>
          </a:xfrm>
          <a:custGeom>
            <a:avLst/>
            <a:gdLst/>
            <a:ahLst/>
            <a:cxnLst/>
            <a:rect l="l" t="t" r="r" b="b"/>
            <a:pathLst>
              <a:path w="1413040" h="1264671">
                <a:moveTo>
                  <a:pt x="0" y="0"/>
                </a:moveTo>
                <a:lnTo>
                  <a:pt x="1413040" y="0"/>
                </a:lnTo>
                <a:lnTo>
                  <a:pt x="1413040" y="1264670"/>
                </a:lnTo>
                <a:lnTo>
                  <a:pt x="0" y="12646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11" name="Group 11"/>
          <p:cNvGrpSpPr/>
          <p:nvPr/>
        </p:nvGrpSpPr>
        <p:grpSpPr>
          <a:xfrm>
            <a:off x="10294644" y="5542148"/>
            <a:ext cx="1928165" cy="1928165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C7CCB"/>
            </a:solid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554028" y="5914474"/>
            <a:ext cx="1409397" cy="1282551"/>
          </a:xfrm>
          <a:custGeom>
            <a:avLst/>
            <a:gdLst/>
            <a:ahLst/>
            <a:cxnLst/>
            <a:rect l="l" t="t" r="r" b="b"/>
            <a:pathLst>
              <a:path w="1409397" h="1282551">
                <a:moveTo>
                  <a:pt x="0" y="0"/>
                </a:moveTo>
                <a:lnTo>
                  <a:pt x="1409397" y="0"/>
                </a:lnTo>
                <a:lnTo>
                  <a:pt x="1409397" y="1282552"/>
                </a:lnTo>
                <a:lnTo>
                  <a:pt x="0" y="128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14" name="Group 14"/>
          <p:cNvGrpSpPr/>
          <p:nvPr/>
        </p:nvGrpSpPr>
        <p:grpSpPr>
          <a:xfrm>
            <a:off x="7800149" y="7146236"/>
            <a:ext cx="1928165" cy="1928165"/>
            <a:chOff x="0" y="0"/>
            <a:chExt cx="2570887" cy="257088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2570887" cy="2570887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C7CCB"/>
              </a:solidFill>
            </p:spPr>
            <p:txBody>
              <a:bodyPr/>
              <a:lstStyle/>
              <a:p>
                <a:endParaRPr lang="LID4096"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267816" y="432102"/>
              <a:ext cx="1938398" cy="1713059"/>
            </a:xfrm>
            <a:custGeom>
              <a:avLst/>
              <a:gdLst/>
              <a:ahLst/>
              <a:cxnLst/>
              <a:rect l="l" t="t" r="r" b="b"/>
              <a:pathLst>
                <a:path w="1938398" h="1713059">
                  <a:moveTo>
                    <a:pt x="0" y="0"/>
                  </a:moveTo>
                  <a:lnTo>
                    <a:pt x="1938398" y="0"/>
                  </a:lnTo>
                  <a:lnTo>
                    <a:pt x="1938398" y="1713059"/>
                  </a:lnTo>
                  <a:lnTo>
                    <a:pt x="0" y="1713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046271" y="5542148"/>
            <a:ext cx="1928165" cy="1928165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C7CCB"/>
            </a:solid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0" name="Freeform 20"/>
          <p:cNvSpPr/>
          <p:nvPr/>
        </p:nvSpPr>
        <p:spPr>
          <a:xfrm>
            <a:off x="5329297" y="5874694"/>
            <a:ext cx="1362112" cy="1362112"/>
          </a:xfrm>
          <a:custGeom>
            <a:avLst/>
            <a:gdLst/>
            <a:ahLst/>
            <a:cxnLst/>
            <a:rect l="l" t="t" r="r" b="b"/>
            <a:pathLst>
              <a:path w="1362112" h="1362112">
                <a:moveTo>
                  <a:pt x="0" y="0"/>
                </a:moveTo>
                <a:lnTo>
                  <a:pt x="1362112" y="0"/>
                </a:lnTo>
                <a:lnTo>
                  <a:pt x="1362112" y="1362112"/>
                </a:lnTo>
                <a:lnTo>
                  <a:pt x="0" y="13621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1" name="Freeform 21"/>
          <p:cNvSpPr/>
          <p:nvPr/>
        </p:nvSpPr>
        <p:spPr>
          <a:xfrm>
            <a:off x="12714574" y="2646160"/>
            <a:ext cx="1000258" cy="1000258"/>
          </a:xfrm>
          <a:custGeom>
            <a:avLst/>
            <a:gdLst/>
            <a:ahLst/>
            <a:cxnLst/>
            <a:rect l="l" t="t" r="r" b="b"/>
            <a:pathLst>
              <a:path w="1000258" h="1000258">
                <a:moveTo>
                  <a:pt x="0" y="0"/>
                </a:moveTo>
                <a:lnTo>
                  <a:pt x="1000258" y="0"/>
                </a:lnTo>
                <a:lnTo>
                  <a:pt x="1000258" y="1000258"/>
                </a:lnTo>
                <a:lnTo>
                  <a:pt x="0" y="1000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2" name="Freeform 22"/>
          <p:cNvSpPr/>
          <p:nvPr/>
        </p:nvSpPr>
        <p:spPr>
          <a:xfrm>
            <a:off x="13073928" y="5546336"/>
            <a:ext cx="1000258" cy="1000258"/>
          </a:xfrm>
          <a:custGeom>
            <a:avLst/>
            <a:gdLst/>
            <a:ahLst/>
            <a:cxnLst/>
            <a:rect l="l" t="t" r="r" b="b"/>
            <a:pathLst>
              <a:path w="1000258" h="1000258">
                <a:moveTo>
                  <a:pt x="0" y="0"/>
                </a:moveTo>
                <a:lnTo>
                  <a:pt x="1000258" y="0"/>
                </a:lnTo>
                <a:lnTo>
                  <a:pt x="1000258" y="1000258"/>
                </a:lnTo>
                <a:lnTo>
                  <a:pt x="0" y="1000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3" name="Freeform 23"/>
          <p:cNvSpPr/>
          <p:nvPr/>
        </p:nvSpPr>
        <p:spPr>
          <a:xfrm>
            <a:off x="10258469" y="8110318"/>
            <a:ext cx="1000258" cy="1000258"/>
          </a:xfrm>
          <a:custGeom>
            <a:avLst/>
            <a:gdLst/>
            <a:ahLst/>
            <a:cxnLst/>
            <a:rect l="l" t="t" r="r" b="b"/>
            <a:pathLst>
              <a:path w="1000258" h="1000258">
                <a:moveTo>
                  <a:pt x="0" y="0"/>
                </a:moveTo>
                <a:lnTo>
                  <a:pt x="1000258" y="0"/>
                </a:lnTo>
                <a:lnTo>
                  <a:pt x="1000258" y="1000258"/>
                </a:lnTo>
                <a:lnTo>
                  <a:pt x="0" y="1000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4" name="Freeform 24"/>
          <p:cNvSpPr/>
          <p:nvPr/>
        </p:nvSpPr>
        <p:spPr>
          <a:xfrm>
            <a:off x="2852817" y="5451484"/>
            <a:ext cx="1000258" cy="1000258"/>
          </a:xfrm>
          <a:custGeom>
            <a:avLst/>
            <a:gdLst/>
            <a:ahLst/>
            <a:cxnLst/>
            <a:rect l="l" t="t" r="r" b="b"/>
            <a:pathLst>
              <a:path w="1000258" h="1000258">
                <a:moveTo>
                  <a:pt x="0" y="0"/>
                </a:moveTo>
                <a:lnTo>
                  <a:pt x="1000258" y="0"/>
                </a:lnTo>
                <a:lnTo>
                  <a:pt x="1000258" y="1000258"/>
                </a:lnTo>
                <a:lnTo>
                  <a:pt x="0" y="1000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5" name="Freeform 25"/>
          <p:cNvSpPr/>
          <p:nvPr/>
        </p:nvSpPr>
        <p:spPr>
          <a:xfrm>
            <a:off x="3612936" y="2522906"/>
            <a:ext cx="847676" cy="847676"/>
          </a:xfrm>
          <a:custGeom>
            <a:avLst/>
            <a:gdLst/>
            <a:ahLst/>
            <a:cxnLst/>
            <a:rect l="l" t="t" r="r" b="b"/>
            <a:pathLst>
              <a:path w="847676" h="847676">
                <a:moveTo>
                  <a:pt x="0" y="0"/>
                </a:moveTo>
                <a:lnTo>
                  <a:pt x="847676" y="0"/>
                </a:lnTo>
                <a:lnTo>
                  <a:pt x="847676" y="847676"/>
                </a:lnTo>
                <a:lnTo>
                  <a:pt x="0" y="8476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6" name="TextBox 26"/>
          <p:cNvSpPr txBox="1"/>
          <p:nvPr/>
        </p:nvSpPr>
        <p:spPr>
          <a:xfrm>
            <a:off x="11990570" y="3737594"/>
            <a:ext cx="3736686" cy="91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2847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Exploration des données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02093" y="6646807"/>
            <a:ext cx="3012682" cy="47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2847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Modélisation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50461" y="3576442"/>
            <a:ext cx="2757158" cy="91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2"/>
              </a:lnSpc>
            </a:pPr>
            <a:r>
              <a:rPr lang="en-US" sz="2847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Préparation des données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7189" y="1160750"/>
            <a:ext cx="6161968" cy="57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4300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 proposée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6838223" y="-992599"/>
            <a:ext cx="2386467" cy="2386467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355172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5727256" y="753637"/>
            <a:ext cx="1532044" cy="637696"/>
          </a:xfrm>
          <a:custGeom>
            <a:avLst/>
            <a:gdLst/>
            <a:ahLst/>
            <a:cxnLst/>
            <a:rect l="l" t="t" r="r" b="b"/>
            <a:pathLst>
              <a:path w="1532044" h="637696">
                <a:moveTo>
                  <a:pt x="0" y="0"/>
                </a:moveTo>
                <a:lnTo>
                  <a:pt x="1532044" y="0"/>
                </a:lnTo>
                <a:lnTo>
                  <a:pt x="1532044" y="637696"/>
                </a:lnTo>
                <a:lnTo>
                  <a:pt x="0" y="637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b="-139045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4" name="Group 34"/>
          <p:cNvGrpSpPr/>
          <p:nvPr/>
        </p:nvGrpSpPr>
        <p:grpSpPr>
          <a:xfrm>
            <a:off x="-834781" y="8709789"/>
            <a:ext cx="2662757" cy="2662757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24222" y="9210675"/>
            <a:ext cx="3012682" cy="47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2847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Comparaison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rot="-381786">
            <a:off x="7760980" y="6901145"/>
            <a:ext cx="12205333" cy="4714310"/>
          </a:xfrm>
          <a:custGeom>
            <a:avLst/>
            <a:gdLst/>
            <a:ahLst/>
            <a:cxnLst/>
            <a:rect l="l" t="t" r="r" b="b"/>
            <a:pathLst>
              <a:path w="12205333" h="4714310">
                <a:moveTo>
                  <a:pt x="0" y="0"/>
                </a:moveTo>
                <a:lnTo>
                  <a:pt x="12205333" y="0"/>
                </a:lnTo>
                <a:lnTo>
                  <a:pt x="12205333" y="4714310"/>
                </a:lnTo>
                <a:lnTo>
                  <a:pt x="0" y="4714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1955726" y="7946275"/>
            <a:ext cx="3849023" cy="1068104"/>
          </a:xfrm>
          <a:custGeom>
            <a:avLst/>
            <a:gdLst/>
            <a:ahLst/>
            <a:cxnLst/>
            <a:rect l="l" t="t" r="r" b="b"/>
            <a:pathLst>
              <a:path w="3849023" h="1068104">
                <a:moveTo>
                  <a:pt x="0" y="0"/>
                </a:moveTo>
                <a:lnTo>
                  <a:pt x="3849023" y="0"/>
                </a:lnTo>
                <a:lnTo>
                  <a:pt x="3849023" y="1068104"/>
                </a:lnTo>
                <a:lnTo>
                  <a:pt x="0" y="10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TextBox 5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8</a:t>
            </a:r>
          </a:p>
        </p:txBody>
      </p:sp>
      <p:sp>
        <p:nvSpPr>
          <p:cNvPr id="6" name="Freeform 6"/>
          <p:cNvSpPr/>
          <p:nvPr/>
        </p:nvSpPr>
        <p:spPr>
          <a:xfrm rot="5316555">
            <a:off x="17145548" y="9011518"/>
            <a:ext cx="650613" cy="391892"/>
          </a:xfrm>
          <a:custGeom>
            <a:avLst/>
            <a:gdLst/>
            <a:ahLst/>
            <a:cxnLst/>
            <a:rect l="l" t="t" r="r" b="b"/>
            <a:pathLst>
              <a:path w="650613" h="391892">
                <a:moveTo>
                  <a:pt x="0" y="0"/>
                </a:moveTo>
                <a:lnTo>
                  <a:pt x="650613" y="0"/>
                </a:lnTo>
                <a:lnTo>
                  <a:pt x="650613" y="391892"/>
                </a:lnTo>
                <a:lnTo>
                  <a:pt x="0" y="391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2475" b="-151872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-805244" y="8291100"/>
            <a:ext cx="6875729" cy="916364"/>
            <a:chOff x="0" y="0"/>
            <a:chExt cx="3186267" cy="4246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6267" cy="424650"/>
            </a:xfrm>
            <a:custGeom>
              <a:avLst/>
              <a:gdLst/>
              <a:ahLst/>
              <a:cxnLst/>
              <a:rect l="l" t="t" r="r" b="b"/>
              <a:pathLst>
                <a:path w="3186267" h="424650">
                  <a:moveTo>
                    <a:pt x="2983067" y="0"/>
                  </a:moveTo>
                  <a:cubicBezTo>
                    <a:pt x="3095291" y="0"/>
                    <a:pt x="3186267" y="95061"/>
                    <a:pt x="3186267" y="212325"/>
                  </a:cubicBezTo>
                  <a:cubicBezTo>
                    <a:pt x="3186267" y="329589"/>
                    <a:pt x="3095291" y="424650"/>
                    <a:pt x="2983067" y="424650"/>
                  </a:cubicBezTo>
                  <a:lnTo>
                    <a:pt x="203200" y="424650"/>
                  </a:lnTo>
                  <a:cubicBezTo>
                    <a:pt x="90976" y="424650"/>
                    <a:pt x="0" y="329589"/>
                    <a:pt x="0" y="212325"/>
                  </a:cubicBezTo>
                  <a:cubicBezTo>
                    <a:pt x="0" y="95061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696CC">
                    <a:alpha val="100000"/>
                  </a:srgbClr>
                </a:gs>
                <a:gs pos="100000">
                  <a:srgbClr val="1B68C9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3186267" cy="49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235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sz="2354" b="1" u="sng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www.univ-poitiers.fr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130991" y="2523472"/>
            <a:ext cx="5767628" cy="5767628"/>
            <a:chOff x="0" y="0"/>
            <a:chExt cx="7690170" cy="769017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7690170" cy="769017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B68C9">
                      <a:alpha val="100000"/>
                    </a:srgbClr>
                  </a:gs>
                  <a:gs pos="50000">
                    <a:srgbClr val="6797C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57202" y="257202"/>
              <a:ext cx="7175767" cy="7175767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1143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sp>
        <p:nvSpPr>
          <p:cNvPr id="16" name="Freeform 16"/>
          <p:cNvSpPr/>
          <p:nvPr/>
        </p:nvSpPr>
        <p:spPr>
          <a:xfrm>
            <a:off x="827556" y="389861"/>
            <a:ext cx="2961473" cy="1817604"/>
          </a:xfrm>
          <a:custGeom>
            <a:avLst/>
            <a:gdLst/>
            <a:ahLst/>
            <a:cxnLst/>
            <a:rect l="l" t="t" r="r" b="b"/>
            <a:pathLst>
              <a:path w="2961473" h="1817604">
                <a:moveTo>
                  <a:pt x="0" y="0"/>
                </a:moveTo>
                <a:lnTo>
                  <a:pt x="2961474" y="0"/>
                </a:lnTo>
                <a:lnTo>
                  <a:pt x="2961474" y="1817604"/>
                </a:lnTo>
                <a:lnTo>
                  <a:pt x="0" y="1817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7" name="Freeform 17"/>
          <p:cNvSpPr/>
          <p:nvPr/>
        </p:nvSpPr>
        <p:spPr>
          <a:xfrm>
            <a:off x="4102941" y="206191"/>
            <a:ext cx="2817898" cy="2184944"/>
          </a:xfrm>
          <a:custGeom>
            <a:avLst/>
            <a:gdLst/>
            <a:ahLst/>
            <a:cxnLst/>
            <a:rect l="l" t="t" r="r" b="b"/>
            <a:pathLst>
              <a:path w="2817898" h="2184944">
                <a:moveTo>
                  <a:pt x="0" y="0"/>
                </a:moveTo>
                <a:lnTo>
                  <a:pt x="2817898" y="0"/>
                </a:lnTo>
                <a:lnTo>
                  <a:pt x="2817898" y="2184944"/>
                </a:lnTo>
                <a:lnTo>
                  <a:pt x="0" y="21849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1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8" name="TextBox 18"/>
          <p:cNvSpPr txBox="1"/>
          <p:nvPr/>
        </p:nvSpPr>
        <p:spPr>
          <a:xfrm>
            <a:off x="1028700" y="4953000"/>
            <a:ext cx="7195626" cy="2226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6051"/>
              </a:lnSpc>
              <a:buFont typeface="Arial"/>
              <a:buChar char="•"/>
            </a:pPr>
            <a:r>
              <a:rPr lang="en-US" sz="3399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Apprentissage supervisé</a:t>
            </a:r>
          </a:p>
          <a:p>
            <a:pPr marL="734059" lvl="1" indent="-367030" algn="l">
              <a:lnSpc>
                <a:spcPts val="6051"/>
              </a:lnSpc>
              <a:buFont typeface="Arial"/>
              <a:buChar char="•"/>
            </a:pPr>
            <a:r>
              <a:rPr lang="en-US" sz="3399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Régression linéaire multiple</a:t>
            </a:r>
          </a:p>
          <a:p>
            <a:pPr marL="734059" lvl="1" indent="-367030" algn="l">
              <a:lnSpc>
                <a:spcPts val="6051"/>
              </a:lnSpc>
              <a:buFont typeface="Arial"/>
              <a:buChar char="•"/>
            </a:pPr>
            <a:r>
              <a:rPr lang="en-US" sz="3399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Métriques d’évaluation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3569383"/>
            <a:ext cx="7797978" cy="920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  Cadre théorique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293508" y="2523472"/>
            <a:ext cx="1605111" cy="160511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797C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-1062841" y="8202549"/>
            <a:ext cx="2084451" cy="208445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63139" y="8850209"/>
            <a:ext cx="899025" cy="611082"/>
          </a:xfrm>
          <a:custGeom>
            <a:avLst/>
            <a:gdLst/>
            <a:ahLst/>
            <a:cxnLst/>
            <a:rect l="l" t="t" r="r" b="b"/>
            <a:pathLst>
              <a:path w="899025" h="611082">
                <a:moveTo>
                  <a:pt x="0" y="0"/>
                </a:moveTo>
                <a:lnTo>
                  <a:pt x="899025" y="0"/>
                </a:lnTo>
                <a:lnTo>
                  <a:pt x="899025" y="611082"/>
                </a:lnTo>
                <a:lnTo>
                  <a:pt x="0" y="611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0411" b="-14945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7" name="Freeform 7"/>
          <p:cNvSpPr/>
          <p:nvPr/>
        </p:nvSpPr>
        <p:spPr>
          <a:xfrm rot="138738" flipV="1">
            <a:off x="10576384" y="-1419850"/>
            <a:ext cx="8778421" cy="3687617"/>
          </a:xfrm>
          <a:custGeom>
            <a:avLst/>
            <a:gdLst/>
            <a:ahLst/>
            <a:cxnLst/>
            <a:rect l="l" t="t" r="r" b="b"/>
            <a:pathLst>
              <a:path w="8778421" h="3687617">
                <a:moveTo>
                  <a:pt x="0" y="3338594"/>
                </a:moveTo>
                <a:lnTo>
                  <a:pt x="8643611" y="3687617"/>
                </a:lnTo>
                <a:lnTo>
                  <a:pt x="8778421" y="349023"/>
                </a:lnTo>
                <a:lnTo>
                  <a:pt x="134811" y="0"/>
                </a:lnTo>
                <a:lnTo>
                  <a:pt x="0" y="333859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378" r="-4378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8" name="TextBox 8"/>
          <p:cNvSpPr txBox="1"/>
          <p:nvPr/>
        </p:nvSpPr>
        <p:spPr>
          <a:xfrm>
            <a:off x="1021610" y="942975"/>
            <a:ext cx="7193804" cy="755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3C7C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Apprentissage supervisé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9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77704" y="2321280"/>
            <a:ext cx="15532592" cy="7481731"/>
            <a:chOff x="0" y="0"/>
            <a:chExt cx="20710122" cy="9975642"/>
          </a:xfrm>
        </p:grpSpPr>
        <p:sp>
          <p:nvSpPr>
            <p:cNvPr id="11" name="Freeform 11"/>
            <p:cNvSpPr/>
            <p:nvPr/>
          </p:nvSpPr>
          <p:spPr>
            <a:xfrm>
              <a:off x="6137118" y="0"/>
              <a:ext cx="7947574" cy="9975642"/>
            </a:xfrm>
            <a:custGeom>
              <a:avLst/>
              <a:gdLst/>
              <a:ahLst/>
              <a:cxnLst/>
              <a:rect l="l" t="t" r="r" b="b"/>
              <a:pathLst>
                <a:path w="7947574" h="9975642">
                  <a:moveTo>
                    <a:pt x="0" y="0"/>
                  </a:moveTo>
                  <a:lnTo>
                    <a:pt x="7947575" y="0"/>
                  </a:lnTo>
                  <a:lnTo>
                    <a:pt x="7947575" y="9975642"/>
                  </a:lnTo>
                  <a:lnTo>
                    <a:pt x="0" y="997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3051" t="-10788" r="-86662" b="-16886"/>
              </a:stretch>
            </a:blipFill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475691" y="-28575"/>
              <a:ext cx="5110393" cy="612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2"/>
                </a:lnSpc>
              </a:pPr>
              <a:r>
                <a:rPr lang="en-US" sz="2921" b="1">
                  <a:solidFill>
                    <a:srgbClr val="598CC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Données d’entrée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75691" y="845900"/>
              <a:ext cx="5831876" cy="1588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4"/>
                </a:lnSpc>
              </a:pPr>
              <a:r>
                <a:rPr lang="en-US" sz="2564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Variables telles que R&amp;D Spend, Administration, Marketing Spend et State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69169" y="845900"/>
              <a:ext cx="5498884" cy="546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4"/>
                </a:lnSpc>
              </a:pPr>
              <a:r>
                <a:rPr lang="en-US" sz="2564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Variables explicatives X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742160"/>
              <a:ext cx="5110393" cy="612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2"/>
                </a:lnSpc>
              </a:pPr>
              <a:r>
                <a:rPr lang="en-US" sz="2921" b="1">
                  <a:solidFill>
                    <a:srgbClr val="598CC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Apprentissage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616635"/>
              <a:ext cx="6137118" cy="1588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4"/>
                </a:lnSpc>
              </a:pPr>
              <a:r>
                <a:rPr lang="en-US" sz="2564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 modèle apprend la relation entre X et Y à partir de données connues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475691" y="7318651"/>
              <a:ext cx="5110393" cy="612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2"/>
                </a:lnSpc>
              </a:pPr>
              <a:r>
                <a:rPr lang="en-US" sz="2921" b="1">
                  <a:solidFill>
                    <a:srgbClr val="598CC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Prédiction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5691" y="8193125"/>
              <a:ext cx="5831876" cy="1588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4"/>
                </a:lnSpc>
              </a:pPr>
              <a:r>
                <a:rPr lang="en-US" sz="2564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 modèle prédit le Profit de la startup en fonction des variables d'entrée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13914" y="4616635"/>
              <a:ext cx="7996208" cy="546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4"/>
                </a:lnSpc>
              </a:pPr>
              <a:r>
                <a:rPr lang="en-US" sz="2564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Modèle d’apprentissage supervisé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21726" y="8399525"/>
              <a:ext cx="3611814" cy="546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4"/>
                </a:lnSpc>
              </a:pPr>
              <a:r>
                <a:rPr lang="en-US" sz="2564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Variable cible Y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16838223" y="-992599"/>
            <a:ext cx="2386467" cy="238646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3C7CCB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727256" y="753637"/>
            <a:ext cx="1532044" cy="637696"/>
          </a:xfrm>
          <a:custGeom>
            <a:avLst/>
            <a:gdLst/>
            <a:ahLst/>
            <a:cxnLst/>
            <a:rect l="l" t="t" r="r" b="b"/>
            <a:pathLst>
              <a:path w="1532044" h="637696">
                <a:moveTo>
                  <a:pt x="0" y="0"/>
                </a:moveTo>
                <a:lnTo>
                  <a:pt x="1532044" y="0"/>
                </a:lnTo>
                <a:lnTo>
                  <a:pt x="1532044" y="637696"/>
                </a:lnTo>
                <a:lnTo>
                  <a:pt x="0" y="637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39045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-1104072" y="7340247"/>
            <a:ext cx="2084451" cy="208445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21908" y="7987906"/>
            <a:ext cx="899025" cy="611082"/>
          </a:xfrm>
          <a:custGeom>
            <a:avLst/>
            <a:gdLst/>
            <a:ahLst/>
            <a:cxnLst/>
            <a:rect l="l" t="t" r="r" b="b"/>
            <a:pathLst>
              <a:path w="899025" h="611082">
                <a:moveTo>
                  <a:pt x="0" y="0"/>
                </a:moveTo>
                <a:lnTo>
                  <a:pt x="899025" y="0"/>
                </a:lnTo>
                <a:lnTo>
                  <a:pt x="899025" y="611082"/>
                </a:lnTo>
                <a:lnTo>
                  <a:pt x="0" y="611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0411" b="-14945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1" name="Freeform 11"/>
          <p:cNvSpPr/>
          <p:nvPr/>
        </p:nvSpPr>
        <p:spPr>
          <a:xfrm>
            <a:off x="2289811" y="2744237"/>
            <a:ext cx="13708378" cy="788232"/>
          </a:xfrm>
          <a:custGeom>
            <a:avLst/>
            <a:gdLst/>
            <a:ahLst/>
            <a:cxnLst/>
            <a:rect l="l" t="t" r="r" b="b"/>
            <a:pathLst>
              <a:path w="13708378" h="788232">
                <a:moveTo>
                  <a:pt x="0" y="0"/>
                </a:moveTo>
                <a:lnTo>
                  <a:pt x="13708378" y="0"/>
                </a:lnTo>
                <a:lnTo>
                  <a:pt x="13708378" y="788232"/>
                </a:lnTo>
                <a:lnTo>
                  <a:pt x="0" y="788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2" name="TextBox 12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1610" y="942975"/>
            <a:ext cx="8122390" cy="755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3C7C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Régression linéaire multiple</a:t>
            </a:r>
          </a:p>
        </p:txBody>
      </p:sp>
      <p:grpSp>
        <p:nvGrpSpPr>
          <p:cNvPr id="14" name="Group 14"/>
          <p:cNvGrpSpPr/>
          <p:nvPr/>
        </p:nvGrpSpPr>
        <p:grpSpPr>
          <a:xfrm rot="-5400000">
            <a:off x="8419559" y="1076995"/>
            <a:ext cx="1448883" cy="7491099"/>
            <a:chOff x="0" y="0"/>
            <a:chExt cx="1931844" cy="9988132"/>
          </a:xfrm>
        </p:grpSpPr>
        <p:sp>
          <p:nvSpPr>
            <p:cNvPr id="15" name="Freeform 15"/>
            <p:cNvSpPr/>
            <p:nvPr/>
          </p:nvSpPr>
          <p:spPr>
            <a:xfrm>
              <a:off x="0" y="27663"/>
              <a:ext cx="1319929" cy="9932806"/>
            </a:xfrm>
            <a:custGeom>
              <a:avLst/>
              <a:gdLst/>
              <a:ahLst/>
              <a:cxnLst/>
              <a:rect l="l" t="t" r="r" b="b"/>
              <a:pathLst>
                <a:path w="1319929" h="9932806">
                  <a:moveTo>
                    <a:pt x="0" y="9932806"/>
                  </a:moveTo>
                  <a:lnTo>
                    <a:pt x="1057134" y="9932806"/>
                  </a:lnTo>
                  <a:cubicBezTo>
                    <a:pt x="1202272" y="9932806"/>
                    <a:pt x="1319929" y="9815149"/>
                    <a:pt x="1319929" y="9670011"/>
                  </a:cubicBezTo>
                  <a:lnTo>
                    <a:pt x="1319929" y="262794"/>
                  </a:lnTo>
                  <a:cubicBezTo>
                    <a:pt x="1319929" y="117657"/>
                    <a:pt x="1202272" y="0"/>
                    <a:pt x="1057134" y="0"/>
                  </a:cubicBezTo>
                  <a:lnTo>
                    <a:pt x="0" y="0"/>
                  </a:lnTo>
                </a:path>
              </a:pathLst>
            </a:custGeom>
            <a:ln w="55325" cap="flat">
              <a:solidFill>
                <a:srgbClr val="3C7CCB"/>
              </a:solidFill>
              <a:prstDash val="solid"/>
              <a:headEnd type="triangle" w="lg" len="med"/>
              <a:tailEnd type="triangle" w="lg" len="med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372704" y="4958897"/>
              <a:ext cx="559140" cy="0"/>
            </a:xfrm>
            <a:prstGeom prst="line">
              <a:avLst/>
            </a:prstGeom>
            <a:ln w="55325" cap="flat">
              <a:solidFill>
                <a:srgbClr val="3C7CC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61799" y="5859974"/>
            <a:ext cx="3873303" cy="2950051"/>
            <a:chOff x="0" y="0"/>
            <a:chExt cx="1038306" cy="7908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8306" cy="790812"/>
            </a:xfrm>
            <a:custGeom>
              <a:avLst/>
              <a:gdLst/>
              <a:ahLst/>
              <a:cxnLst/>
              <a:rect l="l" t="t" r="r" b="b"/>
              <a:pathLst>
                <a:path w="1038306" h="790812">
                  <a:moveTo>
                    <a:pt x="101938" y="0"/>
                  </a:moveTo>
                  <a:lnTo>
                    <a:pt x="936368" y="0"/>
                  </a:lnTo>
                  <a:cubicBezTo>
                    <a:pt x="992667" y="0"/>
                    <a:pt x="1038306" y="45639"/>
                    <a:pt x="1038306" y="101938"/>
                  </a:cubicBezTo>
                  <a:lnTo>
                    <a:pt x="1038306" y="688874"/>
                  </a:lnTo>
                  <a:cubicBezTo>
                    <a:pt x="1038306" y="715910"/>
                    <a:pt x="1027566" y="741838"/>
                    <a:pt x="1008449" y="760955"/>
                  </a:cubicBezTo>
                  <a:cubicBezTo>
                    <a:pt x="989332" y="780072"/>
                    <a:pt x="963403" y="790812"/>
                    <a:pt x="936368" y="790812"/>
                  </a:cubicBezTo>
                  <a:lnTo>
                    <a:pt x="101938" y="790812"/>
                  </a:lnTo>
                  <a:cubicBezTo>
                    <a:pt x="74903" y="790812"/>
                    <a:pt x="48974" y="780072"/>
                    <a:pt x="29857" y="760955"/>
                  </a:cubicBezTo>
                  <a:cubicBezTo>
                    <a:pt x="10740" y="741838"/>
                    <a:pt x="0" y="715910"/>
                    <a:pt x="0" y="688874"/>
                  </a:cubicBezTo>
                  <a:lnTo>
                    <a:pt x="0" y="101938"/>
                  </a:lnTo>
                  <a:cubicBezTo>
                    <a:pt x="0" y="74903"/>
                    <a:pt x="10740" y="48974"/>
                    <a:pt x="29857" y="29857"/>
                  </a:cubicBezTo>
                  <a:cubicBezTo>
                    <a:pt x="48974" y="10740"/>
                    <a:pt x="74903" y="0"/>
                    <a:pt x="101938" y="0"/>
                  </a:cubicBezTo>
                  <a:close/>
                </a:path>
              </a:pathLst>
            </a:custGeom>
            <a:solidFill>
              <a:srgbClr val="F1F0EF"/>
            </a:solidFill>
            <a:ln w="3810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038306" cy="867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3C7C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Objectif :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prédire une variable quantitative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à partir de plusieurs variables explicatives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52898" y="5859974"/>
            <a:ext cx="3873303" cy="2950051"/>
            <a:chOff x="0" y="0"/>
            <a:chExt cx="1038306" cy="7908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38306" cy="790812"/>
            </a:xfrm>
            <a:custGeom>
              <a:avLst/>
              <a:gdLst/>
              <a:ahLst/>
              <a:cxnLst/>
              <a:rect l="l" t="t" r="r" b="b"/>
              <a:pathLst>
                <a:path w="1038306" h="790812">
                  <a:moveTo>
                    <a:pt x="101938" y="0"/>
                  </a:moveTo>
                  <a:lnTo>
                    <a:pt x="936368" y="0"/>
                  </a:lnTo>
                  <a:cubicBezTo>
                    <a:pt x="992667" y="0"/>
                    <a:pt x="1038306" y="45639"/>
                    <a:pt x="1038306" y="101938"/>
                  </a:cubicBezTo>
                  <a:lnTo>
                    <a:pt x="1038306" y="688874"/>
                  </a:lnTo>
                  <a:cubicBezTo>
                    <a:pt x="1038306" y="715910"/>
                    <a:pt x="1027566" y="741838"/>
                    <a:pt x="1008449" y="760955"/>
                  </a:cubicBezTo>
                  <a:cubicBezTo>
                    <a:pt x="989332" y="780072"/>
                    <a:pt x="963403" y="790812"/>
                    <a:pt x="936368" y="790812"/>
                  </a:cubicBezTo>
                  <a:lnTo>
                    <a:pt x="101938" y="790812"/>
                  </a:lnTo>
                  <a:cubicBezTo>
                    <a:pt x="74903" y="790812"/>
                    <a:pt x="48974" y="780072"/>
                    <a:pt x="29857" y="760955"/>
                  </a:cubicBezTo>
                  <a:cubicBezTo>
                    <a:pt x="10740" y="741838"/>
                    <a:pt x="0" y="715910"/>
                    <a:pt x="0" y="688874"/>
                  </a:cubicBezTo>
                  <a:lnTo>
                    <a:pt x="0" y="101938"/>
                  </a:lnTo>
                  <a:cubicBezTo>
                    <a:pt x="0" y="74903"/>
                    <a:pt x="10740" y="48974"/>
                    <a:pt x="29857" y="29857"/>
                  </a:cubicBezTo>
                  <a:cubicBezTo>
                    <a:pt x="48974" y="10740"/>
                    <a:pt x="74903" y="0"/>
                    <a:pt x="101938" y="0"/>
                  </a:cubicBezTo>
                  <a:close/>
                </a:path>
              </a:pathLst>
            </a:custGeom>
            <a:solidFill>
              <a:srgbClr val="F1F0EF"/>
            </a:solidFill>
            <a:ln w="3810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038306" cy="85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 = Profit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X1 = R&amp;D Spend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X2 = Administration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X3 = Marketing Spend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X4 = State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16838223" y="-992599"/>
            <a:ext cx="2386467" cy="238646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84C0E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727256" y="753637"/>
            <a:ext cx="1532044" cy="637696"/>
          </a:xfrm>
          <a:custGeom>
            <a:avLst/>
            <a:gdLst/>
            <a:ahLst/>
            <a:cxnLst/>
            <a:rect l="l" t="t" r="r" b="b"/>
            <a:pathLst>
              <a:path w="1532044" h="637696">
                <a:moveTo>
                  <a:pt x="0" y="0"/>
                </a:moveTo>
                <a:lnTo>
                  <a:pt x="1532044" y="0"/>
                </a:lnTo>
                <a:lnTo>
                  <a:pt x="1532044" y="637696"/>
                </a:lnTo>
                <a:lnTo>
                  <a:pt x="0" y="637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39045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-1104072" y="7340247"/>
            <a:ext cx="2084451" cy="208445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21908" y="7987906"/>
            <a:ext cx="899025" cy="611082"/>
          </a:xfrm>
          <a:custGeom>
            <a:avLst/>
            <a:gdLst/>
            <a:ahLst/>
            <a:cxnLst/>
            <a:rect l="l" t="t" r="r" b="b"/>
            <a:pathLst>
              <a:path w="899025" h="611082">
                <a:moveTo>
                  <a:pt x="0" y="0"/>
                </a:moveTo>
                <a:lnTo>
                  <a:pt x="899025" y="0"/>
                </a:lnTo>
                <a:lnTo>
                  <a:pt x="899025" y="611082"/>
                </a:lnTo>
                <a:lnTo>
                  <a:pt x="0" y="611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0411" b="-14945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1" name="Freeform 11"/>
          <p:cNvSpPr/>
          <p:nvPr/>
        </p:nvSpPr>
        <p:spPr>
          <a:xfrm>
            <a:off x="7533793" y="2181266"/>
            <a:ext cx="3295525" cy="7598616"/>
          </a:xfrm>
          <a:custGeom>
            <a:avLst/>
            <a:gdLst/>
            <a:ahLst/>
            <a:cxnLst/>
            <a:rect l="l" t="t" r="r" b="b"/>
            <a:pathLst>
              <a:path w="3295525" h="7598616">
                <a:moveTo>
                  <a:pt x="0" y="0"/>
                </a:moveTo>
                <a:lnTo>
                  <a:pt x="3295525" y="0"/>
                </a:lnTo>
                <a:lnTo>
                  <a:pt x="3295525" y="7598616"/>
                </a:lnTo>
                <a:lnTo>
                  <a:pt x="0" y="7598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384" t="-59903" r="-277695" b="-35826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12" name="Group 12"/>
          <p:cNvGrpSpPr/>
          <p:nvPr/>
        </p:nvGrpSpPr>
        <p:grpSpPr>
          <a:xfrm>
            <a:off x="2876258" y="3013602"/>
            <a:ext cx="4348302" cy="2450491"/>
            <a:chOff x="0" y="0"/>
            <a:chExt cx="1263531" cy="7120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3531" cy="712064"/>
            </a:xfrm>
            <a:custGeom>
              <a:avLst/>
              <a:gdLst/>
              <a:ahLst/>
              <a:cxnLst/>
              <a:rect l="l" t="t" r="r" b="b"/>
              <a:pathLst>
                <a:path w="1263531" h="712064">
                  <a:moveTo>
                    <a:pt x="90803" y="0"/>
                  </a:moveTo>
                  <a:lnTo>
                    <a:pt x="1172728" y="0"/>
                  </a:lnTo>
                  <a:cubicBezTo>
                    <a:pt x="1222877" y="0"/>
                    <a:pt x="1263531" y="40654"/>
                    <a:pt x="1263531" y="90803"/>
                  </a:cubicBezTo>
                  <a:lnTo>
                    <a:pt x="1263531" y="621262"/>
                  </a:lnTo>
                  <a:cubicBezTo>
                    <a:pt x="1263531" y="645344"/>
                    <a:pt x="1253965" y="668440"/>
                    <a:pt x="1236936" y="685469"/>
                  </a:cubicBezTo>
                  <a:cubicBezTo>
                    <a:pt x="1219907" y="702498"/>
                    <a:pt x="1196811" y="712064"/>
                    <a:pt x="1172728" y="712064"/>
                  </a:cubicBezTo>
                  <a:lnTo>
                    <a:pt x="90803" y="712064"/>
                  </a:lnTo>
                  <a:cubicBezTo>
                    <a:pt x="40654" y="712064"/>
                    <a:pt x="0" y="671411"/>
                    <a:pt x="0" y="621262"/>
                  </a:cubicBezTo>
                  <a:lnTo>
                    <a:pt x="0" y="90803"/>
                  </a:lnTo>
                  <a:cubicBezTo>
                    <a:pt x="0" y="40654"/>
                    <a:pt x="40654" y="0"/>
                    <a:pt x="90803" y="0"/>
                  </a:cubicBezTo>
                  <a:close/>
                </a:path>
              </a:pathLst>
            </a:custGeom>
            <a:solidFill>
              <a:srgbClr val="F1F0EF"/>
            </a:solidFill>
            <a:ln w="3810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263531" cy="759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643621" y="4376192"/>
            <a:ext cx="2897669" cy="1027236"/>
          </a:xfrm>
          <a:custGeom>
            <a:avLst/>
            <a:gdLst/>
            <a:ahLst/>
            <a:cxnLst/>
            <a:rect l="l" t="t" r="r" b="b"/>
            <a:pathLst>
              <a:path w="2897669" h="1027236">
                <a:moveTo>
                  <a:pt x="0" y="0"/>
                </a:moveTo>
                <a:lnTo>
                  <a:pt x="2897670" y="0"/>
                </a:lnTo>
                <a:lnTo>
                  <a:pt x="2897670" y="1027236"/>
                </a:lnTo>
                <a:lnTo>
                  <a:pt x="0" y="10272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714" r="-30553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16" name="Group 16"/>
          <p:cNvGrpSpPr/>
          <p:nvPr/>
        </p:nvGrpSpPr>
        <p:grpSpPr>
          <a:xfrm>
            <a:off x="2876258" y="6588173"/>
            <a:ext cx="4348302" cy="2450491"/>
            <a:chOff x="0" y="0"/>
            <a:chExt cx="1263531" cy="7120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63531" cy="712064"/>
            </a:xfrm>
            <a:custGeom>
              <a:avLst/>
              <a:gdLst/>
              <a:ahLst/>
              <a:cxnLst/>
              <a:rect l="l" t="t" r="r" b="b"/>
              <a:pathLst>
                <a:path w="1263531" h="712064">
                  <a:moveTo>
                    <a:pt x="90803" y="0"/>
                  </a:moveTo>
                  <a:lnTo>
                    <a:pt x="1172728" y="0"/>
                  </a:lnTo>
                  <a:cubicBezTo>
                    <a:pt x="1222877" y="0"/>
                    <a:pt x="1263531" y="40654"/>
                    <a:pt x="1263531" y="90803"/>
                  </a:cubicBezTo>
                  <a:lnTo>
                    <a:pt x="1263531" y="621262"/>
                  </a:lnTo>
                  <a:cubicBezTo>
                    <a:pt x="1263531" y="645344"/>
                    <a:pt x="1253965" y="668440"/>
                    <a:pt x="1236936" y="685469"/>
                  </a:cubicBezTo>
                  <a:cubicBezTo>
                    <a:pt x="1219907" y="702498"/>
                    <a:pt x="1196811" y="712064"/>
                    <a:pt x="1172728" y="712064"/>
                  </a:cubicBezTo>
                  <a:lnTo>
                    <a:pt x="90803" y="712064"/>
                  </a:lnTo>
                  <a:cubicBezTo>
                    <a:pt x="40654" y="712064"/>
                    <a:pt x="0" y="671411"/>
                    <a:pt x="0" y="621262"/>
                  </a:cubicBezTo>
                  <a:lnTo>
                    <a:pt x="0" y="90803"/>
                  </a:lnTo>
                  <a:cubicBezTo>
                    <a:pt x="0" y="40654"/>
                    <a:pt x="40654" y="0"/>
                    <a:pt x="90803" y="0"/>
                  </a:cubicBezTo>
                  <a:close/>
                </a:path>
              </a:pathLst>
            </a:custGeom>
            <a:solidFill>
              <a:srgbClr val="F1F0EF"/>
            </a:solidFill>
            <a:ln w="3810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263531" cy="759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053393" y="2952937"/>
            <a:ext cx="4348302" cy="2450491"/>
            <a:chOff x="0" y="0"/>
            <a:chExt cx="1263531" cy="7120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63531" cy="712064"/>
            </a:xfrm>
            <a:custGeom>
              <a:avLst/>
              <a:gdLst/>
              <a:ahLst/>
              <a:cxnLst/>
              <a:rect l="l" t="t" r="r" b="b"/>
              <a:pathLst>
                <a:path w="1263531" h="712064">
                  <a:moveTo>
                    <a:pt x="90803" y="0"/>
                  </a:moveTo>
                  <a:lnTo>
                    <a:pt x="1172728" y="0"/>
                  </a:lnTo>
                  <a:cubicBezTo>
                    <a:pt x="1222877" y="0"/>
                    <a:pt x="1263531" y="40654"/>
                    <a:pt x="1263531" y="90803"/>
                  </a:cubicBezTo>
                  <a:lnTo>
                    <a:pt x="1263531" y="621262"/>
                  </a:lnTo>
                  <a:cubicBezTo>
                    <a:pt x="1263531" y="645344"/>
                    <a:pt x="1253965" y="668440"/>
                    <a:pt x="1236936" y="685469"/>
                  </a:cubicBezTo>
                  <a:cubicBezTo>
                    <a:pt x="1219907" y="702498"/>
                    <a:pt x="1196811" y="712064"/>
                    <a:pt x="1172728" y="712064"/>
                  </a:cubicBezTo>
                  <a:lnTo>
                    <a:pt x="90803" y="712064"/>
                  </a:lnTo>
                  <a:cubicBezTo>
                    <a:pt x="40654" y="712064"/>
                    <a:pt x="0" y="671411"/>
                    <a:pt x="0" y="621262"/>
                  </a:cubicBezTo>
                  <a:lnTo>
                    <a:pt x="0" y="90803"/>
                  </a:lnTo>
                  <a:cubicBezTo>
                    <a:pt x="0" y="40654"/>
                    <a:pt x="40654" y="0"/>
                    <a:pt x="90803" y="0"/>
                  </a:cubicBezTo>
                  <a:close/>
                </a:path>
              </a:pathLst>
            </a:custGeom>
            <a:solidFill>
              <a:srgbClr val="F1F0EF"/>
            </a:solidFill>
            <a:ln w="3810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263531" cy="7596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3559528" y="7935910"/>
            <a:ext cx="2981763" cy="934861"/>
          </a:xfrm>
          <a:custGeom>
            <a:avLst/>
            <a:gdLst/>
            <a:ahLst/>
            <a:cxnLst/>
            <a:rect l="l" t="t" r="r" b="b"/>
            <a:pathLst>
              <a:path w="2981763" h="934861">
                <a:moveTo>
                  <a:pt x="0" y="0"/>
                </a:moveTo>
                <a:lnTo>
                  <a:pt x="2981763" y="0"/>
                </a:lnTo>
                <a:lnTo>
                  <a:pt x="2981763" y="934861"/>
                </a:lnTo>
                <a:lnTo>
                  <a:pt x="0" y="934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221" r="-16622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23" name="Group 23"/>
          <p:cNvGrpSpPr/>
          <p:nvPr/>
        </p:nvGrpSpPr>
        <p:grpSpPr>
          <a:xfrm>
            <a:off x="11053393" y="6588173"/>
            <a:ext cx="4338256" cy="2389826"/>
            <a:chOff x="0" y="0"/>
            <a:chExt cx="1260612" cy="69443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60612" cy="694436"/>
            </a:xfrm>
            <a:custGeom>
              <a:avLst/>
              <a:gdLst/>
              <a:ahLst/>
              <a:cxnLst/>
              <a:rect l="l" t="t" r="r" b="b"/>
              <a:pathLst>
                <a:path w="1260612" h="694436">
                  <a:moveTo>
                    <a:pt x="91013" y="0"/>
                  </a:moveTo>
                  <a:lnTo>
                    <a:pt x="1169599" y="0"/>
                  </a:lnTo>
                  <a:cubicBezTo>
                    <a:pt x="1193737" y="0"/>
                    <a:pt x="1216886" y="9589"/>
                    <a:pt x="1233955" y="26657"/>
                  </a:cubicBezTo>
                  <a:cubicBezTo>
                    <a:pt x="1251023" y="43725"/>
                    <a:pt x="1260612" y="66875"/>
                    <a:pt x="1260612" y="91013"/>
                  </a:cubicBezTo>
                  <a:lnTo>
                    <a:pt x="1260612" y="603423"/>
                  </a:lnTo>
                  <a:cubicBezTo>
                    <a:pt x="1260612" y="653688"/>
                    <a:pt x="1219864" y="694436"/>
                    <a:pt x="1169599" y="694436"/>
                  </a:cubicBezTo>
                  <a:lnTo>
                    <a:pt x="91013" y="694436"/>
                  </a:lnTo>
                  <a:cubicBezTo>
                    <a:pt x="66875" y="694436"/>
                    <a:pt x="43725" y="684847"/>
                    <a:pt x="26657" y="667779"/>
                  </a:cubicBezTo>
                  <a:cubicBezTo>
                    <a:pt x="9589" y="650711"/>
                    <a:pt x="0" y="627561"/>
                    <a:pt x="0" y="603423"/>
                  </a:cubicBezTo>
                  <a:lnTo>
                    <a:pt x="0" y="91013"/>
                  </a:lnTo>
                  <a:cubicBezTo>
                    <a:pt x="0" y="40748"/>
                    <a:pt x="40748" y="0"/>
                    <a:pt x="91013" y="0"/>
                  </a:cubicBezTo>
                  <a:close/>
                </a:path>
              </a:pathLst>
            </a:custGeom>
            <a:solidFill>
              <a:srgbClr val="F1F0EF"/>
            </a:solidFill>
            <a:ln w="3810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260612" cy="742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1960538" y="7639845"/>
            <a:ext cx="2523966" cy="1266225"/>
          </a:xfrm>
          <a:custGeom>
            <a:avLst/>
            <a:gdLst/>
            <a:ahLst/>
            <a:cxnLst/>
            <a:rect l="l" t="t" r="r" b="b"/>
            <a:pathLst>
              <a:path w="2523966" h="1266225">
                <a:moveTo>
                  <a:pt x="0" y="0"/>
                </a:moveTo>
                <a:lnTo>
                  <a:pt x="2523966" y="0"/>
                </a:lnTo>
                <a:lnTo>
                  <a:pt x="2523966" y="1266225"/>
                </a:lnTo>
                <a:lnTo>
                  <a:pt x="0" y="12662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4082" r="-30690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7" name="Freeform 27"/>
          <p:cNvSpPr/>
          <p:nvPr/>
        </p:nvSpPr>
        <p:spPr>
          <a:xfrm>
            <a:off x="11747215" y="4518056"/>
            <a:ext cx="2950611" cy="816126"/>
          </a:xfrm>
          <a:custGeom>
            <a:avLst/>
            <a:gdLst/>
            <a:ahLst/>
            <a:cxnLst/>
            <a:rect l="l" t="t" r="r" b="b"/>
            <a:pathLst>
              <a:path w="2950611" h="816126">
                <a:moveTo>
                  <a:pt x="0" y="0"/>
                </a:moveTo>
                <a:lnTo>
                  <a:pt x="2950611" y="0"/>
                </a:lnTo>
                <a:lnTo>
                  <a:pt x="2950611" y="816126"/>
                </a:lnTo>
                <a:lnTo>
                  <a:pt x="0" y="8161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8" name="TextBox 28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1610" y="942975"/>
            <a:ext cx="7119965" cy="755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3C7C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Métriques d’évaluation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037140" y="3676931"/>
            <a:ext cx="4009108" cy="60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  <a:spcBef>
                <a:spcPct val="0"/>
              </a:spcBef>
            </a:pPr>
            <a:r>
              <a:rPr lang="en-US" sz="1722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Mesure l’erreur absolue moyenne entre les valeurs prédites et réelles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37111" y="3094280"/>
            <a:ext cx="120916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355172"/>
                </a:solidFill>
                <a:latin typeface="Poppins Bold"/>
                <a:ea typeface="Poppins Bold"/>
                <a:cs typeface="Poppins Bold"/>
                <a:sym typeface="Poppins Bold"/>
              </a:rPr>
              <a:t>MAE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037140" y="7251502"/>
            <a:ext cx="4009108" cy="60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  <a:spcBef>
                <a:spcPct val="0"/>
              </a:spcBef>
            </a:pPr>
            <a:r>
              <a:rPr lang="en-US" sz="1722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Représente la racine carrée de l’erreur quadratique moyenne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37111" y="6684473"/>
            <a:ext cx="120916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355172"/>
                </a:solidFill>
                <a:latin typeface="Poppins Bold"/>
                <a:ea typeface="Poppins Bold"/>
                <a:cs typeface="Poppins Bold"/>
                <a:sym typeface="Poppins Bold"/>
              </a:rPr>
              <a:t>RMSE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33834" y="3607685"/>
            <a:ext cx="4177374" cy="910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  <a:spcBef>
                <a:spcPct val="0"/>
              </a:spcBef>
            </a:pPr>
            <a:r>
              <a:rPr lang="en-US" sz="1722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Mesure la moyenne des carrés</a:t>
            </a:r>
          </a:p>
          <a:p>
            <a:pPr algn="ctr">
              <a:lnSpc>
                <a:spcPts val="2410"/>
              </a:lnSpc>
              <a:spcBef>
                <a:spcPct val="0"/>
              </a:spcBef>
            </a:pPr>
            <a:r>
              <a:rPr lang="en-US" sz="1722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des erreurs entre les valeurs réelles et prédites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550808" y="3062189"/>
            <a:ext cx="135347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355172"/>
                </a:solidFill>
                <a:latin typeface="Poppins Bold"/>
                <a:ea typeface="Poppins Bold"/>
                <a:cs typeface="Poppins Bold"/>
                <a:sym typeface="Poppins Bold"/>
              </a:rPr>
              <a:t>MSE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58066" y="7248074"/>
            <a:ext cx="4338955" cy="30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0"/>
              </a:lnSpc>
              <a:spcBef>
                <a:spcPct val="0"/>
              </a:spcBef>
            </a:pPr>
            <a:r>
              <a:rPr lang="en-US" sz="1722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Indique la proportion de la variance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617938" y="6665423"/>
            <a:ext cx="120916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355172"/>
                </a:solidFill>
                <a:latin typeface="Poppins Bold"/>
                <a:ea typeface="Poppins Bold"/>
                <a:cs typeface="Poppins Bold"/>
                <a:sym typeface="Poppins Bold"/>
              </a:rPr>
              <a:t>R²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rot="-381786">
            <a:off x="7760980" y="6901145"/>
            <a:ext cx="12205333" cy="4714310"/>
          </a:xfrm>
          <a:custGeom>
            <a:avLst/>
            <a:gdLst/>
            <a:ahLst/>
            <a:cxnLst/>
            <a:rect l="l" t="t" r="r" b="b"/>
            <a:pathLst>
              <a:path w="12205333" h="4714310">
                <a:moveTo>
                  <a:pt x="0" y="0"/>
                </a:moveTo>
                <a:lnTo>
                  <a:pt x="12205333" y="0"/>
                </a:lnTo>
                <a:lnTo>
                  <a:pt x="12205333" y="4714310"/>
                </a:lnTo>
                <a:lnTo>
                  <a:pt x="0" y="4714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1955726" y="7946275"/>
            <a:ext cx="3849023" cy="1068104"/>
          </a:xfrm>
          <a:custGeom>
            <a:avLst/>
            <a:gdLst/>
            <a:ahLst/>
            <a:cxnLst/>
            <a:rect l="l" t="t" r="r" b="b"/>
            <a:pathLst>
              <a:path w="3849023" h="1068104">
                <a:moveTo>
                  <a:pt x="0" y="0"/>
                </a:moveTo>
                <a:lnTo>
                  <a:pt x="3849023" y="0"/>
                </a:lnTo>
                <a:lnTo>
                  <a:pt x="3849023" y="1068104"/>
                </a:lnTo>
                <a:lnTo>
                  <a:pt x="0" y="10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TextBox 5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12</a:t>
            </a:r>
          </a:p>
        </p:txBody>
      </p:sp>
      <p:sp>
        <p:nvSpPr>
          <p:cNvPr id="6" name="Freeform 6"/>
          <p:cNvSpPr/>
          <p:nvPr/>
        </p:nvSpPr>
        <p:spPr>
          <a:xfrm rot="5316555">
            <a:off x="17145548" y="9011518"/>
            <a:ext cx="650613" cy="391892"/>
          </a:xfrm>
          <a:custGeom>
            <a:avLst/>
            <a:gdLst/>
            <a:ahLst/>
            <a:cxnLst/>
            <a:rect l="l" t="t" r="r" b="b"/>
            <a:pathLst>
              <a:path w="650613" h="391892">
                <a:moveTo>
                  <a:pt x="0" y="0"/>
                </a:moveTo>
                <a:lnTo>
                  <a:pt x="650613" y="0"/>
                </a:lnTo>
                <a:lnTo>
                  <a:pt x="650613" y="391892"/>
                </a:lnTo>
                <a:lnTo>
                  <a:pt x="0" y="391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2475" b="-151872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-805244" y="8291100"/>
            <a:ext cx="6875729" cy="916364"/>
            <a:chOff x="0" y="0"/>
            <a:chExt cx="3186267" cy="4246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6267" cy="424650"/>
            </a:xfrm>
            <a:custGeom>
              <a:avLst/>
              <a:gdLst/>
              <a:ahLst/>
              <a:cxnLst/>
              <a:rect l="l" t="t" r="r" b="b"/>
              <a:pathLst>
                <a:path w="3186267" h="424650">
                  <a:moveTo>
                    <a:pt x="2983067" y="0"/>
                  </a:moveTo>
                  <a:cubicBezTo>
                    <a:pt x="3095291" y="0"/>
                    <a:pt x="3186267" y="95061"/>
                    <a:pt x="3186267" y="212325"/>
                  </a:cubicBezTo>
                  <a:cubicBezTo>
                    <a:pt x="3186267" y="329589"/>
                    <a:pt x="3095291" y="424650"/>
                    <a:pt x="2983067" y="424650"/>
                  </a:cubicBezTo>
                  <a:lnTo>
                    <a:pt x="203200" y="424650"/>
                  </a:lnTo>
                  <a:cubicBezTo>
                    <a:pt x="90976" y="424650"/>
                    <a:pt x="0" y="329589"/>
                    <a:pt x="0" y="212325"/>
                  </a:cubicBezTo>
                  <a:cubicBezTo>
                    <a:pt x="0" y="95061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696CC">
                    <a:alpha val="100000"/>
                  </a:srgbClr>
                </a:gs>
                <a:gs pos="100000">
                  <a:srgbClr val="1B68C9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3186267" cy="49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235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sz="2354" b="1" u="sng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www.univ-poitiers.fr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130991" y="2523472"/>
            <a:ext cx="5767628" cy="5767628"/>
            <a:chOff x="0" y="0"/>
            <a:chExt cx="7690170" cy="769017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7690170" cy="769017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B68C9">
                      <a:alpha val="100000"/>
                    </a:srgbClr>
                  </a:gs>
                  <a:gs pos="50000">
                    <a:srgbClr val="6797C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57202" y="257202"/>
              <a:ext cx="7175767" cy="7175767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1143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sp>
        <p:nvSpPr>
          <p:cNvPr id="16" name="Freeform 16"/>
          <p:cNvSpPr/>
          <p:nvPr/>
        </p:nvSpPr>
        <p:spPr>
          <a:xfrm>
            <a:off x="827556" y="389861"/>
            <a:ext cx="2961473" cy="1817604"/>
          </a:xfrm>
          <a:custGeom>
            <a:avLst/>
            <a:gdLst/>
            <a:ahLst/>
            <a:cxnLst/>
            <a:rect l="l" t="t" r="r" b="b"/>
            <a:pathLst>
              <a:path w="2961473" h="1817604">
                <a:moveTo>
                  <a:pt x="0" y="0"/>
                </a:moveTo>
                <a:lnTo>
                  <a:pt x="2961474" y="0"/>
                </a:lnTo>
                <a:lnTo>
                  <a:pt x="2961474" y="1817604"/>
                </a:lnTo>
                <a:lnTo>
                  <a:pt x="0" y="1817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7" name="Freeform 17"/>
          <p:cNvSpPr/>
          <p:nvPr/>
        </p:nvSpPr>
        <p:spPr>
          <a:xfrm>
            <a:off x="4102941" y="206191"/>
            <a:ext cx="2817898" cy="2184944"/>
          </a:xfrm>
          <a:custGeom>
            <a:avLst/>
            <a:gdLst/>
            <a:ahLst/>
            <a:cxnLst/>
            <a:rect l="l" t="t" r="r" b="b"/>
            <a:pathLst>
              <a:path w="2817898" h="2184944">
                <a:moveTo>
                  <a:pt x="0" y="0"/>
                </a:moveTo>
                <a:lnTo>
                  <a:pt x="2817898" y="0"/>
                </a:lnTo>
                <a:lnTo>
                  <a:pt x="2817898" y="2184944"/>
                </a:lnTo>
                <a:lnTo>
                  <a:pt x="0" y="21849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1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8" name="TextBox 18"/>
          <p:cNvSpPr txBox="1"/>
          <p:nvPr/>
        </p:nvSpPr>
        <p:spPr>
          <a:xfrm>
            <a:off x="1028700" y="5529298"/>
            <a:ext cx="7195626" cy="2226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6051"/>
              </a:lnSpc>
              <a:buFont typeface="Arial"/>
              <a:buChar char="•"/>
            </a:pPr>
            <a:r>
              <a:rPr lang="en-US" sz="3399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 du dataset</a:t>
            </a:r>
          </a:p>
          <a:p>
            <a:pPr marL="734059" lvl="1" indent="-367030" algn="l">
              <a:lnSpc>
                <a:spcPts val="6051"/>
              </a:lnSpc>
              <a:buFont typeface="Arial"/>
              <a:buChar char="•"/>
            </a:pPr>
            <a:r>
              <a:rPr lang="en-US" sz="3399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Prétraitement des données</a:t>
            </a:r>
          </a:p>
          <a:p>
            <a:pPr marL="734059" lvl="1" indent="-367030" algn="l">
              <a:lnSpc>
                <a:spcPts val="6051"/>
              </a:lnSpc>
              <a:buFont typeface="Arial"/>
              <a:buChar char="•"/>
            </a:pPr>
            <a:r>
              <a:rPr lang="en-US" sz="3399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Exploration des données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3372363"/>
            <a:ext cx="8991101" cy="187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5400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  Préparation et exploration des données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293508" y="2523472"/>
            <a:ext cx="1605111" cy="160511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797C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TextBox 3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13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042225" y="1980220"/>
            <a:ext cx="2084451" cy="208445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83755" y="2627880"/>
            <a:ext cx="899025" cy="611082"/>
          </a:xfrm>
          <a:custGeom>
            <a:avLst/>
            <a:gdLst/>
            <a:ahLst/>
            <a:cxnLst/>
            <a:rect l="l" t="t" r="r" b="b"/>
            <a:pathLst>
              <a:path w="899025" h="611082">
                <a:moveTo>
                  <a:pt x="0" y="0"/>
                </a:moveTo>
                <a:lnTo>
                  <a:pt x="899025" y="0"/>
                </a:lnTo>
                <a:lnTo>
                  <a:pt x="899025" y="611082"/>
                </a:lnTo>
                <a:lnTo>
                  <a:pt x="0" y="611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0411" b="-149456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8"/>
          <p:cNvGrpSpPr/>
          <p:nvPr/>
        </p:nvGrpSpPr>
        <p:grpSpPr>
          <a:xfrm>
            <a:off x="16185840" y="8541914"/>
            <a:ext cx="2912065" cy="291206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855831" y="9617708"/>
            <a:ext cx="660020" cy="448626"/>
          </a:xfrm>
          <a:custGeom>
            <a:avLst/>
            <a:gdLst/>
            <a:ahLst/>
            <a:cxnLst/>
            <a:rect l="l" t="t" r="r" b="b"/>
            <a:pathLst>
              <a:path w="660020" h="448626">
                <a:moveTo>
                  <a:pt x="0" y="0"/>
                </a:moveTo>
                <a:lnTo>
                  <a:pt x="660019" y="0"/>
                </a:lnTo>
                <a:lnTo>
                  <a:pt x="660019" y="448626"/>
                </a:lnTo>
                <a:lnTo>
                  <a:pt x="0" y="4486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0411" b="-14945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2" name="Freeform 12"/>
          <p:cNvSpPr/>
          <p:nvPr/>
        </p:nvSpPr>
        <p:spPr>
          <a:xfrm flipV="1">
            <a:off x="10237179" y="-1516852"/>
            <a:ext cx="8650655" cy="3341315"/>
          </a:xfrm>
          <a:custGeom>
            <a:avLst/>
            <a:gdLst/>
            <a:ahLst/>
            <a:cxnLst/>
            <a:rect l="l" t="t" r="r" b="b"/>
            <a:pathLst>
              <a:path w="8650655" h="3341315">
                <a:moveTo>
                  <a:pt x="0" y="3341316"/>
                </a:moveTo>
                <a:lnTo>
                  <a:pt x="8650655" y="3341316"/>
                </a:lnTo>
                <a:lnTo>
                  <a:pt x="8650655" y="0"/>
                </a:lnTo>
                <a:lnTo>
                  <a:pt x="0" y="0"/>
                </a:lnTo>
                <a:lnTo>
                  <a:pt x="0" y="33413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Freeform 13"/>
          <p:cNvSpPr/>
          <p:nvPr/>
        </p:nvSpPr>
        <p:spPr>
          <a:xfrm>
            <a:off x="11878808" y="1824464"/>
            <a:ext cx="2891328" cy="2585959"/>
          </a:xfrm>
          <a:custGeom>
            <a:avLst/>
            <a:gdLst/>
            <a:ahLst/>
            <a:cxnLst/>
            <a:rect l="l" t="t" r="r" b="b"/>
            <a:pathLst>
              <a:path w="2891328" h="2585959">
                <a:moveTo>
                  <a:pt x="0" y="0"/>
                </a:moveTo>
                <a:lnTo>
                  <a:pt x="2891328" y="0"/>
                </a:lnTo>
                <a:lnTo>
                  <a:pt x="2891328" y="2585959"/>
                </a:lnTo>
                <a:lnTo>
                  <a:pt x="0" y="2585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368" r="-13333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14" name="Group 14"/>
          <p:cNvGrpSpPr/>
          <p:nvPr/>
        </p:nvGrpSpPr>
        <p:grpSpPr>
          <a:xfrm>
            <a:off x="5405696" y="8419035"/>
            <a:ext cx="7918776" cy="839265"/>
            <a:chOff x="0" y="0"/>
            <a:chExt cx="10558368" cy="11190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7596" cy="1119019"/>
            </a:xfrm>
            <a:custGeom>
              <a:avLst/>
              <a:gdLst/>
              <a:ahLst/>
              <a:cxnLst/>
              <a:rect l="l" t="t" r="r" b="b"/>
              <a:pathLst>
                <a:path w="917596" h="1119019">
                  <a:moveTo>
                    <a:pt x="0" y="0"/>
                  </a:moveTo>
                  <a:lnTo>
                    <a:pt x="917596" y="0"/>
                  </a:lnTo>
                  <a:lnTo>
                    <a:pt x="917596" y="1119019"/>
                  </a:lnTo>
                  <a:lnTo>
                    <a:pt x="0" y="1119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8990" y="-73511"/>
              <a:ext cx="9429378" cy="1192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r>
                <a:rPr lang="en-US" sz="2400" b="1">
                  <a:solidFill>
                    <a:srgbClr val="3C7CC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Source de données : Dataset 50_Startups : Variables financières de startups (kaggle)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1610" y="942975"/>
            <a:ext cx="8122390" cy="755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3C7C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Présentation du dataset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504409" y="4338656"/>
            <a:ext cx="11279181" cy="3314060"/>
            <a:chOff x="0" y="0"/>
            <a:chExt cx="15038909" cy="441874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038909" cy="4418746"/>
            </a:xfrm>
            <a:custGeom>
              <a:avLst/>
              <a:gdLst/>
              <a:ahLst/>
              <a:cxnLst/>
              <a:rect l="l" t="t" r="r" b="b"/>
              <a:pathLst>
                <a:path w="15038909" h="4418746">
                  <a:moveTo>
                    <a:pt x="0" y="0"/>
                  </a:moveTo>
                  <a:lnTo>
                    <a:pt x="15038909" y="0"/>
                  </a:lnTo>
                  <a:lnTo>
                    <a:pt x="15038909" y="4418746"/>
                  </a:lnTo>
                  <a:lnTo>
                    <a:pt x="0" y="4418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w="38100" cap="sq">
              <a:solidFill>
                <a:srgbClr val="355172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AutoShape 20"/>
            <p:cNvSpPr/>
            <p:nvPr/>
          </p:nvSpPr>
          <p:spPr>
            <a:xfrm flipH="1">
              <a:off x="3452645" y="0"/>
              <a:ext cx="0" cy="4418746"/>
            </a:xfrm>
            <a:prstGeom prst="line">
              <a:avLst/>
            </a:prstGeom>
            <a:ln w="50800" cap="flat">
              <a:solidFill>
                <a:srgbClr val="35517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AutoShape 21"/>
            <p:cNvSpPr/>
            <p:nvPr/>
          </p:nvSpPr>
          <p:spPr>
            <a:xfrm flipH="1">
              <a:off x="6658784" y="0"/>
              <a:ext cx="0" cy="4418746"/>
            </a:xfrm>
            <a:prstGeom prst="line">
              <a:avLst/>
            </a:prstGeom>
            <a:ln w="50800" cap="flat">
              <a:solidFill>
                <a:srgbClr val="35517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568314" y="0"/>
              <a:ext cx="0" cy="4418746"/>
            </a:xfrm>
            <a:prstGeom prst="line">
              <a:avLst/>
            </a:prstGeom>
            <a:ln w="50800" cap="flat">
              <a:solidFill>
                <a:srgbClr val="35517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2638206" y="0"/>
              <a:ext cx="0" cy="4418746"/>
            </a:xfrm>
            <a:prstGeom prst="line">
              <a:avLst/>
            </a:prstGeom>
            <a:ln w="50800" cap="flat">
              <a:solidFill>
                <a:srgbClr val="35517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LID4096"/>
            </a:p>
          </p:txBody>
        </p:sp>
      </p:grp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TextBox 3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14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042225" y="1980220"/>
            <a:ext cx="2084451" cy="208445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83755" y="2627880"/>
            <a:ext cx="899025" cy="611082"/>
          </a:xfrm>
          <a:custGeom>
            <a:avLst/>
            <a:gdLst/>
            <a:ahLst/>
            <a:cxnLst/>
            <a:rect l="l" t="t" r="r" b="b"/>
            <a:pathLst>
              <a:path w="899025" h="611082">
                <a:moveTo>
                  <a:pt x="0" y="0"/>
                </a:moveTo>
                <a:lnTo>
                  <a:pt x="899025" y="0"/>
                </a:lnTo>
                <a:lnTo>
                  <a:pt x="899025" y="611082"/>
                </a:lnTo>
                <a:lnTo>
                  <a:pt x="0" y="611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0411" b="-149456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8"/>
          <p:cNvGrpSpPr/>
          <p:nvPr/>
        </p:nvGrpSpPr>
        <p:grpSpPr>
          <a:xfrm>
            <a:off x="16185840" y="8541914"/>
            <a:ext cx="2912065" cy="291206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855831" y="9617708"/>
            <a:ext cx="660020" cy="448626"/>
          </a:xfrm>
          <a:custGeom>
            <a:avLst/>
            <a:gdLst/>
            <a:ahLst/>
            <a:cxnLst/>
            <a:rect l="l" t="t" r="r" b="b"/>
            <a:pathLst>
              <a:path w="660020" h="448626">
                <a:moveTo>
                  <a:pt x="0" y="0"/>
                </a:moveTo>
                <a:lnTo>
                  <a:pt x="660019" y="0"/>
                </a:lnTo>
                <a:lnTo>
                  <a:pt x="660019" y="448626"/>
                </a:lnTo>
                <a:lnTo>
                  <a:pt x="0" y="4486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0411" b="-14945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2" name="Freeform 12"/>
          <p:cNvSpPr/>
          <p:nvPr/>
        </p:nvSpPr>
        <p:spPr>
          <a:xfrm flipV="1">
            <a:off x="10237179" y="-1516852"/>
            <a:ext cx="8650655" cy="3341315"/>
          </a:xfrm>
          <a:custGeom>
            <a:avLst/>
            <a:gdLst/>
            <a:ahLst/>
            <a:cxnLst/>
            <a:rect l="l" t="t" r="r" b="b"/>
            <a:pathLst>
              <a:path w="8650655" h="3341315">
                <a:moveTo>
                  <a:pt x="0" y="3341316"/>
                </a:moveTo>
                <a:lnTo>
                  <a:pt x="8650655" y="3341316"/>
                </a:lnTo>
                <a:lnTo>
                  <a:pt x="8650655" y="0"/>
                </a:lnTo>
                <a:lnTo>
                  <a:pt x="0" y="0"/>
                </a:lnTo>
                <a:lnTo>
                  <a:pt x="0" y="33413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1021610" y="942975"/>
            <a:ext cx="7899199" cy="755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3C7C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Prétraitement des données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349868" y="2627880"/>
            <a:ext cx="13588263" cy="6303332"/>
            <a:chOff x="0" y="0"/>
            <a:chExt cx="18117684" cy="84044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117684" cy="7172180"/>
            </a:xfrm>
            <a:custGeom>
              <a:avLst/>
              <a:gdLst/>
              <a:ahLst/>
              <a:cxnLst/>
              <a:rect l="l" t="t" r="r" b="b"/>
              <a:pathLst>
                <a:path w="18117684" h="7172180">
                  <a:moveTo>
                    <a:pt x="0" y="0"/>
                  </a:moveTo>
                  <a:lnTo>
                    <a:pt x="18117684" y="0"/>
                  </a:lnTo>
                  <a:lnTo>
                    <a:pt x="18117684" y="7172180"/>
                  </a:lnTo>
                  <a:lnTo>
                    <a:pt x="0" y="7172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6" t="-12347" r="-2582" b="-39137"/>
              </a:stretch>
            </a:blipFill>
          </p:spPr>
          <p:txBody>
            <a:bodyPr/>
            <a:lstStyle/>
            <a:p>
              <a:endParaRPr lang="LID4096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6494" y="6847928"/>
              <a:ext cx="3788040" cy="1556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1"/>
                </a:lnSpc>
              </a:pPr>
              <a:r>
                <a:rPr lang="en-US" sz="2513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Vérification des valeurs manquantes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41075" y="6847928"/>
              <a:ext cx="3292522" cy="1556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1"/>
                </a:lnSpc>
              </a:pPr>
              <a:r>
                <a:rPr lang="en-US" sz="2513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Encodage de la variable State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590418" y="6847928"/>
              <a:ext cx="2850450" cy="1042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1"/>
                </a:lnSpc>
              </a:pPr>
              <a:r>
                <a:rPr lang="en-US" sz="2513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Séparation train/ test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70860" y="6847928"/>
              <a:ext cx="3581066" cy="529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1"/>
                </a:lnSpc>
              </a:pPr>
              <a:r>
                <a:rPr lang="en-US" sz="2513" b="1">
                  <a:solidFill>
                    <a:srgbClr val="1F20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Séparation X / y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TextBox 3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15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042225" y="1980220"/>
            <a:ext cx="2084451" cy="208445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83755" y="2627880"/>
            <a:ext cx="899025" cy="611082"/>
          </a:xfrm>
          <a:custGeom>
            <a:avLst/>
            <a:gdLst/>
            <a:ahLst/>
            <a:cxnLst/>
            <a:rect l="l" t="t" r="r" b="b"/>
            <a:pathLst>
              <a:path w="899025" h="611082">
                <a:moveTo>
                  <a:pt x="0" y="0"/>
                </a:moveTo>
                <a:lnTo>
                  <a:pt x="899025" y="0"/>
                </a:lnTo>
                <a:lnTo>
                  <a:pt x="899025" y="611082"/>
                </a:lnTo>
                <a:lnTo>
                  <a:pt x="0" y="611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0411" b="-149456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8"/>
          <p:cNvGrpSpPr/>
          <p:nvPr/>
        </p:nvGrpSpPr>
        <p:grpSpPr>
          <a:xfrm>
            <a:off x="16185840" y="8541914"/>
            <a:ext cx="2912065" cy="291206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855831" y="9617708"/>
            <a:ext cx="660020" cy="448626"/>
          </a:xfrm>
          <a:custGeom>
            <a:avLst/>
            <a:gdLst/>
            <a:ahLst/>
            <a:cxnLst/>
            <a:rect l="l" t="t" r="r" b="b"/>
            <a:pathLst>
              <a:path w="660020" h="448626">
                <a:moveTo>
                  <a:pt x="0" y="0"/>
                </a:moveTo>
                <a:lnTo>
                  <a:pt x="660019" y="0"/>
                </a:lnTo>
                <a:lnTo>
                  <a:pt x="660019" y="448626"/>
                </a:lnTo>
                <a:lnTo>
                  <a:pt x="0" y="4486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0411" b="-14945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2" name="Freeform 12"/>
          <p:cNvSpPr/>
          <p:nvPr/>
        </p:nvSpPr>
        <p:spPr>
          <a:xfrm flipV="1">
            <a:off x="10237179" y="-1516852"/>
            <a:ext cx="8650655" cy="3341315"/>
          </a:xfrm>
          <a:custGeom>
            <a:avLst/>
            <a:gdLst/>
            <a:ahLst/>
            <a:cxnLst/>
            <a:rect l="l" t="t" r="r" b="b"/>
            <a:pathLst>
              <a:path w="8650655" h="3341315">
                <a:moveTo>
                  <a:pt x="0" y="3341316"/>
                </a:moveTo>
                <a:lnTo>
                  <a:pt x="8650655" y="3341316"/>
                </a:lnTo>
                <a:lnTo>
                  <a:pt x="8650655" y="0"/>
                </a:lnTo>
                <a:lnTo>
                  <a:pt x="0" y="0"/>
                </a:lnTo>
                <a:lnTo>
                  <a:pt x="0" y="33413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Freeform 13"/>
          <p:cNvSpPr/>
          <p:nvPr/>
        </p:nvSpPr>
        <p:spPr>
          <a:xfrm>
            <a:off x="3879898" y="2192989"/>
            <a:ext cx="10081821" cy="7262398"/>
          </a:xfrm>
          <a:custGeom>
            <a:avLst/>
            <a:gdLst/>
            <a:ahLst/>
            <a:cxnLst/>
            <a:rect l="l" t="t" r="r" b="b"/>
            <a:pathLst>
              <a:path w="10081821" h="7262398">
                <a:moveTo>
                  <a:pt x="0" y="0"/>
                </a:moveTo>
                <a:lnTo>
                  <a:pt x="10081821" y="0"/>
                </a:lnTo>
                <a:lnTo>
                  <a:pt x="10081821" y="7262398"/>
                </a:lnTo>
                <a:lnTo>
                  <a:pt x="0" y="7262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0" r="-140"/>
            </a:stretch>
          </a:blipFill>
          <a:ln w="38100" cap="sq">
            <a:solidFill>
              <a:srgbClr val="3C7CCB"/>
            </a:solidFill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Box 14"/>
          <p:cNvSpPr txBox="1"/>
          <p:nvPr/>
        </p:nvSpPr>
        <p:spPr>
          <a:xfrm>
            <a:off x="1021610" y="942975"/>
            <a:ext cx="7899199" cy="755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3C7C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Exploration des données</a:t>
            </a: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rot="-381786">
            <a:off x="7760980" y="6901145"/>
            <a:ext cx="12205333" cy="4714310"/>
          </a:xfrm>
          <a:custGeom>
            <a:avLst/>
            <a:gdLst/>
            <a:ahLst/>
            <a:cxnLst/>
            <a:rect l="l" t="t" r="r" b="b"/>
            <a:pathLst>
              <a:path w="12205333" h="4714310">
                <a:moveTo>
                  <a:pt x="0" y="0"/>
                </a:moveTo>
                <a:lnTo>
                  <a:pt x="12205333" y="0"/>
                </a:lnTo>
                <a:lnTo>
                  <a:pt x="12205333" y="4714310"/>
                </a:lnTo>
                <a:lnTo>
                  <a:pt x="0" y="4714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1955726" y="7946275"/>
            <a:ext cx="3849023" cy="1068104"/>
          </a:xfrm>
          <a:custGeom>
            <a:avLst/>
            <a:gdLst/>
            <a:ahLst/>
            <a:cxnLst/>
            <a:rect l="l" t="t" r="r" b="b"/>
            <a:pathLst>
              <a:path w="3849023" h="1068104">
                <a:moveTo>
                  <a:pt x="0" y="0"/>
                </a:moveTo>
                <a:lnTo>
                  <a:pt x="3849023" y="0"/>
                </a:lnTo>
                <a:lnTo>
                  <a:pt x="3849023" y="1068104"/>
                </a:lnTo>
                <a:lnTo>
                  <a:pt x="0" y="10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TextBox 5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16</a:t>
            </a:r>
          </a:p>
        </p:txBody>
      </p:sp>
      <p:sp>
        <p:nvSpPr>
          <p:cNvPr id="6" name="Freeform 6"/>
          <p:cNvSpPr/>
          <p:nvPr/>
        </p:nvSpPr>
        <p:spPr>
          <a:xfrm rot="5316555">
            <a:off x="17145548" y="9011518"/>
            <a:ext cx="650613" cy="391892"/>
          </a:xfrm>
          <a:custGeom>
            <a:avLst/>
            <a:gdLst/>
            <a:ahLst/>
            <a:cxnLst/>
            <a:rect l="l" t="t" r="r" b="b"/>
            <a:pathLst>
              <a:path w="650613" h="391892">
                <a:moveTo>
                  <a:pt x="0" y="0"/>
                </a:moveTo>
                <a:lnTo>
                  <a:pt x="650613" y="0"/>
                </a:lnTo>
                <a:lnTo>
                  <a:pt x="650613" y="391892"/>
                </a:lnTo>
                <a:lnTo>
                  <a:pt x="0" y="391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2475" b="-151872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-805244" y="8291100"/>
            <a:ext cx="6875729" cy="916364"/>
            <a:chOff x="0" y="0"/>
            <a:chExt cx="3186267" cy="4246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6267" cy="424650"/>
            </a:xfrm>
            <a:custGeom>
              <a:avLst/>
              <a:gdLst/>
              <a:ahLst/>
              <a:cxnLst/>
              <a:rect l="l" t="t" r="r" b="b"/>
              <a:pathLst>
                <a:path w="3186267" h="424650">
                  <a:moveTo>
                    <a:pt x="2983067" y="0"/>
                  </a:moveTo>
                  <a:cubicBezTo>
                    <a:pt x="3095291" y="0"/>
                    <a:pt x="3186267" y="95061"/>
                    <a:pt x="3186267" y="212325"/>
                  </a:cubicBezTo>
                  <a:cubicBezTo>
                    <a:pt x="3186267" y="329589"/>
                    <a:pt x="3095291" y="424650"/>
                    <a:pt x="2983067" y="424650"/>
                  </a:cubicBezTo>
                  <a:lnTo>
                    <a:pt x="203200" y="424650"/>
                  </a:lnTo>
                  <a:cubicBezTo>
                    <a:pt x="90976" y="424650"/>
                    <a:pt x="0" y="329589"/>
                    <a:pt x="0" y="212325"/>
                  </a:cubicBezTo>
                  <a:cubicBezTo>
                    <a:pt x="0" y="95061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696CC">
                    <a:alpha val="100000"/>
                  </a:srgbClr>
                </a:gs>
                <a:gs pos="100000">
                  <a:srgbClr val="1B68C9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3186267" cy="49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235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sz="2354" b="1" u="sng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www.univ-poitiers.fr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130991" y="2523472"/>
            <a:ext cx="5767628" cy="5767628"/>
            <a:chOff x="0" y="0"/>
            <a:chExt cx="7690170" cy="769017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7690170" cy="769017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B68C9">
                      <a:alpha val="100000"/>
                    </a:srgbClr>
                  </a:gs>
                  <a:gs pos="50000">
                    <a:srgbClr val="6797C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57202" y="257202"/>
              <a:ext cx="7175767" cy="7175767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1143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sp>
        <p:nvSpPr>
          <p:cNvPr id="16" name="Freeform 16"/>
          <p:cNvSpPr/>
          <p:nvPr/>
        </p:nvSpPr>
        <p:spPr>
          <a:xfrm>
            <a:off x="827556" y="389861"/>
            <a:ext cx="2961473" cy="1817604"/>
          </a:xfrm>
          <a:custGeom>
            <a:avLst/>
            <a:gdLst/>
            <a:ahLst/>
            <a:cxnLst/>
            <a:rect l="l" t="t" r="r" b="b"/>
            <a:pathLst>
              <a:path w="2961473" h="1817604">
                <a:moveTo>
                  <a:pt x="0" y="0"/>
                </a:moveTo>
                <a:lnTo>
                  <a:pt x="2961474" y="0"/>
                </a:lnTo>
                <a:lnTo>
                  <a:pt x="2961474" y="1817604"/>
                </a:lnTo>
                <a:lnTo>
                  <a:pt x="0" y="1817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7" name="Freeform 17"/>
          <p:cNvSpPr/>
          <p:nvPr/>
        </p:nvSpPr>
        <p:spPr>
          <a:xfrm>
            <a:off x="4102941" y="206191"/>
            <a:ext cx="2817898" cy="2184944"/>
          </a:xfrm>
          <a:custGeom>
            <a:avLst/>
            <a:gdLst/>
            <a:ahLst/>
            <a:cxnLst/>
            <a:rect l="l" t="t" r="r" b="b"/>
            <a:pathLst>
              <a:path w="2817898" h="2184944">
                <a:moveTo>
                  <a:pt x="0" y="0"/>
                </a:moveTo>
                <a:lnTo>
                  <a:pt x="2817898" y="0"/>
                </a:lnTo>
                <a:lnTo>
                  <a:pt x="2817898" y="2184944"/>
                </a:lnTo>
                <a:lnTo>
                  <a:pt x="0" y="21849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1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8" name="TextBox 18"/>
          <p:cNvSpPr txBox="1"/>
          <p:nvPr/>
        </p:nvSpPr>
        <p:spPr>
          <a:xfrm>
            <a:off x="1028700" y="5108791"/>
            <a:ext cx="7885490" cy="146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6051"/>
              </a:lnSpc>
              <a:buFont typeface="Arial"/>
              <a:buChar char="•"/>
            </a:pPr>
            <a:r>
              <a:rPr lang="en-US" sz="3399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Modèles utilisés</a:t>
            </a:r>
          </a:p>
          <a:p>
            <a:pPr marL="734059" lvl="1" indent="-367030" algn="l">
              <a:lnSpc>
                <a:spcPts val="6051"/>
              </a:lnSpc>
              <a:buFont typeface="Arial"/>
              <a:buChar char="•"/>
            </a:pPr>
            <a:r>
              <a:rPr lang="en-US" sz="3399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Évaluation des performances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4058" y="3479451"/>
            <a:ext cx="9351556" cy="86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  Modélisation et résultats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293508" y="2523472"/>
            <a:ext cx="1605111" cy="160511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797C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331857" y="4350421"/>
            <a:ext cx="5626102" cy="7064219"/>
            <a:chOff x="0" y="0"/>
            <a:chExt cx="1579017" cy="19826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79017" cy="1982638"/>
            </a:xfrm>
            <a:custGeom>
              <a:avLst/>
              <a:gdLst/>
              <a:ahLst/>
              <a:cxnLst/>
              <a:rect l="l" t="t" r="r" b="b"/>
              <a:pathLst>
                <a:path w="1579017" h="1982638">
                  <a:moveTo>
                    <a:pt x="137607" y="0"/>
                  </a:moveTo>
                  <a:lnTo>
                    <a:pt x="1441410" y="0"/>
                  </a:lnTo>
                  <a:cubicBezTo>
                    <a:pt x="1477906" y="0"/>
                    <a:pt x="1512906" y="14498"/>
                    <a:pt x="1538713" y="40304"/>
                  </a:cubicBezTo>
                  <a:cubicBezTo>
                    <a:pt x="1564519" y="66111"/>
                    <a:pt x="1579017" y="101111"/>
                    <a:pt x="1579017" y="137607"/>
                  </a:cubicBezTo>
                  <a:lnTo>
                    <a:pt x="1579017" y="1845030"/>
                  </a:lnTo>
                  <a:cubicBezTo>
                    <a:pt x="1579017" y="1881526"/>
                    <a:pt x="1564519" y="1916527"/>
                    <a:pt x="1538713" y="1942333"/>
                  </a:cubicBezTo>
                  <a:cubicBezTo>
                    <a:pt x="1512906" y="1968140"/>
                    <a:pt x="1477906" y="1982638"/>
                    <a:pt x="1441410" y="1982638"/>
                  </a:cubicBezTo>
                  <a:lnTo>
                    <a:pt x="137607" y="1982638"/>
                  </a:lnTo>
                  <a:cubicBezTo>
                    <a:pt x="61609" y="1982638"/>
                    <a:pt x="0" y="1921029"/>
                    <a:pt x="0" y="1845030"/>
                  </a:cubicBezTo>
                  <a:lnTo>
                    <a:pt x="0" y="137607"/>
                  </a:lnTo>
                  <a:cubicBezTo>
                    <a:pt x="0" y="101111"/>
                    <a:pt x="14498" y="66111"/>
                    <a:pt x="40304" y="40304"/>
                  </a:cubicBezTo>
                  <a:cubicBezTo>
                    <a:pt x="66111" y="14498"/>
                    <a:pt x="101111" y="0"/>
                    <a:pt x="137607" y="0"/>
                  </a:cubicBezTo>
                  <a:close/>
                </a:path>
              </a:pathLst>
            </a:custGeom>
            <a:solidFill>
              <a:srgbClr val="F1F0EF"/>
            </a:solidFill>
            <a:ln w="38100" cap="rnd">
              <a:solidFill>
                <a:srgbClr val="355172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579017" cy="2001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38960" y="4340314"/>
            <a:ext cx="5626102" cy="7064219"/>
            <a:chOff x="0" y="0"/>
            <a:chExt cx="1579017" cy="19826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9017" cy="1982638"/>
            </a:xfrm>
            <a:custGeom>
              <a:avLst/>
              <a:gdLst/>
              <a:ahLst/>
              <a:cxnLst/>
              <a:rect l="l" t="t" r="r" b="b"/>
              <a:pathLst>
                <a:path w="1579017" h="1982638">
                  <a:moveTo>
                    <a:pt x="137607" y="0"/>
                  </a:moveTo>
                  <a:lnTo>
                    <a:pt x="1441410" y="0"/>
                  </a:lnTo>
                  <a:cubicBezTo>
                    <a:pt x="1477906" y="0"/>
                    <a:pt x="1512906" y="14498"/>
                    <a:pt x="1538713" y="40304"/>
                  </a:cubicBezTo>
                  <a:cubicBezTo>
                    <a:pt x="1564519" y="66111"/>
                    <a:pt x="1579017" y="101111"/>
                    <a:pt x="1579017" y="137607"/>
                  </a:cubicBezTo>
                  <a:lnTo>
                    <a:pt x="1579017" y="1845030"/>
                  </a:lnTo>
                  <a:cubicBezTo>
                    <a:pt x="1579017" y="1881526"/>
                    <a:pt x="1564519" y="1916527"/>
                    <a:pt x="1538713" y="1942333"/>
                  </a:cubicBezTo>
                  <a:cubicBezTo>
                    <a:pt x="1512906" y="1968140"/>
                    <a:pt x="1477906" y="1982638"/>
                    <a:pt x="1441410" y="1982638"/>
                  </a:cubicBezTo>
                  <a:lnTo>
                    <a:pt x="137607" y="1982638"/>
                  </a:lnTo>
                  <a:cubicBezTo>
                    <a:pt x="61609" y="1982638"/>
                    <a:pt x="0" y="1921029"/>
                    <a:pt x="0" y="1845030"/>
                  </a:cubicBezTo>
                  <a:lnTo>
                    <a:pt x="0" y="137607"/>
                  </a:lnTo>
                  <a:cubicBezTo>
                    <a:pt x="0" y="101111"/>
                    <a:pt x="14498" y="66111"/>
                    <a:pt x="40304" y="40304"/>
                  </a:cubicBezTo>
                  <a:cubicBezTo>
                    <a:pt x="66111" y="14498"/>
                    <a:pt x="101111" y="0"/>
                    <a:pt x="137607" y="0"/>
                  </a:cubicBezTo>
                  <a:close/>
                </a:path>
              </a:pathLst>
            </a:custGeom>
            <a:solidFill>
              <a:srgbClr val="F1F0EF"/>
            </a:solidFill>
            <a:ln w="38100" cap="rnd">
              <a:solidFill>
                <a:srgbClr val="355172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579017" cy="2001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43929" y="4340314"/>
            <a:ext cx="5626102" cy="7064219"/>
            <a:chOff x="0" y="0"/>
            <a:chExt cx="1579017" cy="19826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79017" cy="1982638"/>
            </a:xfrm>
            <a:custGeom>
              <a:avLst/>
              <a:gdLst/>
              <a:ahLst/>
              <a:cxnLst/>
              <a:rect l="l" t="t" r="r" b="b"/>
              <a:pathLst>
                <a:path w="1579017" h="1982638">
                  <a:moveTo>
                    <a:pt x="137607" y="0"/>
                  </a:moveTo>
                  <a:lnTo>
                    <a:pt x="1441410" y="0"/>
                  </a:lnTo>
                  <a:cubicBezTo>
                    <a:pt x="1477906" y="0"/>
                    <a:pt x="1512906" y="14498"/>
                    <a:pt x="1538713" y="40304"/>
                  </a:cubicBezTo>
                  <a:cubicBezTo>
                    <a:pt x="1564519" y="66111"/>
                    <a:pt x="1579017" y="101111"/>
                    <a:pt x="1579017" y="137607"/>
                  </a:cubicBezTo>
                  <a:lnTo>
                    <a:pt x="1579017" y="1845030"/>
                  </a:lnTo>
                  <a:cubicBezTo>
                    <a:pt x="1579017" y="1881526"/>
                    <a:pt x="1564519" y="1916527"/>
                    <a:pt x="1538713" y="1942333"/>
                  </a:cubicBezTo>
                  <a:cubicBezTo>
                    <a:pt x="1512906" y="1968140"/>
                    <a:pt x="1477906" y="1982638"/>
                    <a:pt x="1441410" y="1982638"/>
                  </a:cubicBezTo>
                  <a:lnTo>
                    <a:pt x="137607" y="1982638"/>
                  </a:lnTo>
                  <a:cubicBezTo>
                    <a:pt x="61609" y="1982638"/>
                    <a:pt x="0" y="1921029"/>
                    <a:pt x="0" y="1845030"/>
                  </a:cubicBezTo>
                  <a:lnTo>
                    <a:pt x="0" y="137607"/>
                  </a:lnTo>
                  <a:cubicBezTo>
                    <a:pt x="0" y="101111"/>
                    <a:pt x="14498" y="66111"/>
                    <a:pt x="40304" y="40304"/>
                  </a:cubicBezTo>
                  <a:cubicBezTo>
                    <a:pt x="66111" y="14498"/>
                    <a:pt x="101111" y="0"/>
                    <a:pt x="137607" y="0"/>
                  </a:cubicBezTo>
                  <a:close/>
                </a:path>
              </a:pathLst>
            </a:custGeom>
            <a:solidFill>
              <a:srgbClr val="F1F0EF"/>
            </a:solidFill>
            <a:ln w="38100" cap="rnd">
              <a:solidFill>
                <a:srgbClr val="355172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579017" cy="2001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042225" y="1980220"/>
            <a:ext cx="2084451" cy="208445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83755" y="2627880"/>
            <a:ext cx="899025" cy="611082"/>
          </a:xfrm>
          <a:custGeom>
            <a:avLst/>
            <a:gdLst/>
            <a:ahLst/>
            <a:cxnLst/>
            <a:rect l="l" t="t" r="r" b="b"/>
            <a:pathLst>
              <a:path w="899025" h="611082">
                <a:moveTo>
                  <a:pt x="0" y="0"/>
                </a:moveTo>
                <a:lnTo>
                  <a:pt x="899025" y="0"/>
                </a:lnTo>
                <a:lnTo>
                  <a:pt x="899025" y="611082"/>
                </a:lnTo>
                <a:lnTo>
                  <a:pt x="0" y="611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0411" b="-14945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6" name="Freeform 16"/>
          <p:cNvSpPr/>
          <p:nvPr/>
        </p:nvSpPr>
        <p:spPr>
          <a:xfrm>
            <a:off x="683755" y="5896503"/>
            <a:ext cx="2380573" cy="870281"/>
          </a:xfrm>
          <a:custGeom>
            <a:avLst/>
            <a:gdLst/>
            <a:ahLst/>
            <a:cxnLst/>
            <a:rect l="l" t="t" r="r" b="b"/>
            <a:pathLst>
              <a:path w="2380573" h="870281">
                <a:moveTo>
                  <a:pt x="0" y="0"/>
                </a:moveTo>
                <a:lnTo>
                  <a:pt x="2380572" y="0"/>
                </a:lnTo>
                <a:lnTo>
                  <a:pt x="2380572" y="870281"/>
                </a:lnTo>
                <a:lnTo>
                  <a:pt x="0" y="8702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88" t="-14853" r="-6183" b="-19529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7" name="Freeform 17"/>
          <p:cNvSpPr/>
          <p:nvPr/>
        </p:nvSpPr>
        <p:spPr>
          <a:xfrm>
            <a:off x="3424576" y="5942109"/>
            <a:ext cx="2182273" cy="779069"/>
          </a:xfrm>
          <a:custGeom>
            <a:avLst/>
            <a:gdLst/>
            <a:ahLst/>
            <a:cxnLst/>
            <a:rect l="l" t="t" r="r" b="b"/>
            <a:pathLst>
              <a:path w="2182273" h="779069">
                <a:moveTo>
                  <a:pt x="0" y="0"/>
                </a:moveTo>
                <a:lnTo>
                  <a:pt x="2182273" y="0"/>
                </a:lnTo>
                <a:lnTo>
                  <a:pt x="2182273" y="779069"/>
                </a:lnTo>
                <a:lnTo>
                  <a:pt x="0" y="7790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1722" b="-88390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8" name="Freeform 18"/>
          <p:cNvSpPr/>
          <p:nvPr/>
        </p:nvSpPr>
        <p:spPr>
          <a:xfrm flipV="1">
            <a:off x="10237179" y="-1516852"/>
            <a:ext cx="8650655" cy="3341315"/>
          </a:xfrm>
          <a:custGeom>
            <a:avLst/>
            <a:gdLst/>
            <a:ahLst/>
            <a:cxnLst/>
            <a:rect l="l" t="t" r="r" b="b"/>
            <a:pathLst>
              <a:path w="8650655" h="3341315">
                <a:moveTo>
                  <a:pt x="0" y="3341316"/>
                </a:moveTo>
                <a:lnTo>
                  <a:pt x="8650655" y="3341316"/>
                </a:lnTo>
                <a:lnTo>
                  <a:pt x="8650655" y="0"/>
                </a:lnTo>
                <a:lnTo>
                  <a:pt x="0" y="0"/>
                </a:lnTo>
                <a:lnTo>
                  <a:pt x="0" y="33413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9" name="Freeform 19"/>
          <p:cNvSpPr/>
          <p:nvPr/>
        </p:nvSpPr>
        <p:spPr>
          <a:xfrm>
            <a:off x="16572181" y="473293"/>
            <a:ext cx="425685" cy="457071"/>
          </a:xfrm>
          <a:custGeom>
            <a:avLst/>
            <a:gdLst/>
            <a:ahLst/>
            <a:cxnLst/>
            <a:rect l="l" t="t" r="r" b="b"/>
            <a:pathLst>
              <a:path w="425685" h="457071">
                <a:moveTo>
                  <a:pt x="0" y="0"/>
                </a:moveTo>
                <a:lnTo>
                  <a:pt x="425685" y="0"/>
                </a:lnTo>
                <a:lnTo>
                  <a:pt x="425685" y="457071"/>
                </a:lnTo>
                <a:lnTo>
                  <a:pt x="0" y="457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57945" b="-139031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0" name="Freeform 20"/>
          <p:cNvSpPr/>
          <p:nvPr/>
        </p:nvSpPr>
        <p:spPr>
          <a:xfrm>
            <a:off x="6250498" y="211492"/>
            <a:ext cx="3297323" cy="2652447"/>
          </a:xfrm>
          <a:custGeom>
            <a:avLst/>
            <a:gdLst/>
            <a:ahLst/>
            <a:cxnLst/>
            <a:rect l="l" t="t" r="r" b="b"/>
            <a:pathLst>
              <a:path w="3297323" h="2652447">
                <a:moveTo>
                  <a:pt x="0" y="0"/>
                </a:moveTo>
                <a:lnTo>
                  <a:pt x="3297323" y="0"/>
                </a:lnTo>
                <a:lnTo>
                  <a:pt x="3297323" y="2652447"/>
                </a:lnTo>
                <a:lnTo>
                  <a:pt x="0" y="2652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114" t="-6724" r="-19903" b="-5498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1" name="Freeform 21"/>
          <p:cNvSpPr/>
          <p:nvPr/>
        </p:nvSpPr>
        <p:spPr>
          <a:xfrm>
            <a:off x="750750" y="7248701"/>
            <a:ext cx="2172971" cy="1173405"/>
          </a:xfrm>
          <a:custGeom>
            <a:avLst/>
            <a:gdLst/>
            <a:ahLst/>
            <a:cxnLst/>
            <a:rect l="l" t="t" r="r" b="b"/>
            <a:pathLst>
              <a:path w="2172971" h="1173405">
                <a:moveTo>
                  <a:pt x="0" y="0"/>
                </a:moveTo>
                <a:lnTo>
                  <a:pt x="2172971" y="0"/>
                </a:lnTo>
                <a:lnTo>
                  <a:pt x="2172971" y="1173405"/>
                </a:lnTo>
                <a:lnTo>
                  <a:pt x="0" y="11734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2" name="Freeform 22"/>
          <p:cNvSpPr/>
          <p:nvPr/>
        </p:nvSpPr>
        <p:spPr>
          <a:xfrm>
            <a:off x="1440157" y="9021729"/>
            <a:ext cx="3248341" cy="743938"/>
          </a:xfrm>
          <a:custGeom>
            <a:avLst/>
            <a:gdLst/>
            <a:ahLst/>
            <a:cxnLst/>
            <a:rect l="l" t="t" r="r" b="b"/>
            <a:pathLst>
              <a:path w="3248341" h="743938">
                <a:moveTo>
                  <a:pt x="0" y="0"/>
                </a:moveTo>
                <a:lnTo>
                  <a:pt x="3248341" y="0"/>
                </a:lnTo>
                <a:lnTo>
                  <a:pt x="3248341" y="743938"/>
                </a:lnTo>
                <a:lnTo>
                  <a:pt x="0" y="7439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287" t="-29608" r="-6488" b="-37444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3" name="Freeform 23"/>
          <p:cNvSpPr/>
          <p:nvPr/>
        </p:nvSpPr>
        <p:spPr>
          <a:xfrm>
            <a:off x="3554309" y="6942193"/>
            <a:ext cx="1539020" cy="1860461"/>
          </a:xfrm>
          <a:custGeom>
            <a:avLst/>
            <a:gdLst/>
            <a:ahLst/>
            <a:cxnLst/>
            <a:rect l="l" t="t" r="r" b="b"/>
            <a:pathLst>
              <a:path w="1539020" h="1860461">
                <a:moveTo>
                  <a:pt x="0" y="0"/>
                </a:moveTo>
                <a:lnTo>
                  <a:pt x="1539020" y="0"/>
                </a:lnTo>
                <a:lnTo>
                  <a:pt x="1539020" y="1860461"/>
                </a:lnTo>
                <a:lnTo>
                  <a:pt x="0" y="18604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24" name="Group 24"/>
          <p:cNvGrpSpPr/>
          <p:nvPr/>
        </p:nvGrpSpPr>
        <p:grpSpPr>
          <a:xfrm>
            <a:off x="8827673" y="8463031"/>
            <a:ext cx="324338" cy="491819"/>
            <a:chOff x="0" y="0"/>
            <a:chExt cx="560538" cy="8499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60538" cy="849988"/>
            </a:xfrm>
            <a:custGeom>
              <a:avLst/>
              <a:gdLst/>
              <a:ahLst/>
              <a:cxnLst/>
              <a:rect l="l" t="t" r="r" b="b"/>
              <a:pathLst>
                <a:path w="560538" h="849988">
                  <a:moveTo>
                    <a:pt x="280269" y="849988"/>
                  </a:moveTo>
                  <a:lnTo>
                    <a:pt x="0" y="443588"/>
                  </a:lnTo>
                  <a:lnTo>
                    <a:pt x="203200" y="443588"/>
                  </a:lnTo>
                  <a:lnTo>
                    <a:pt x="203200" y="0"/>
                  </a:lnTo>
                  <a:lnTo>
                    <a:pt x="357338" y="0"/>
                  </a:lnTo>
                  <a:lnTo>
                    <a:pt x="357338" y="443588"/>
                  </a:lnTo>
                  <a:lnTo>
                    <a:pt x="560538" y="443588"/>
                  </a:lnTo>
                  <a:lnTo>
                    <a:pt x="280269" y="849988"/>
                  </a:lnTo>
                  <a:close/>
                </a:path>
              </a:pathLst>
            </a:custGeom>
            <a:solidFill>
              <a:srgbClr val="F11111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3200" y="-47625"/>
              <a:ext cx="154138" cy="796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21610" y="942975"/>
            <a:ext cx="4805931" cy="755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3C7C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Modèles utilisés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0750" y="4687188"/>
            <a:ext cx="4483891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Bibliothèques utilisées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57593" y="4687188"/>
            <a:ext cx="4772814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Régression linéaire multiple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33600" y="4687188"/>
            <a:ext cx="422570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KNN Regressor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17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604600" y="5879765"/>
            <a:ext cx="5094823" cy="2436925"/>
            <a:chOff x="0" y="0"/>
            <a:chExt cx="6793097" cy="3249234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6793097" cy="3249234"/>
              <a:chOff x="0" y="0"/>
              <a:chExt cx="1341846" cy="64182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341846" cy="641824"/>
              </a:xfrm>
              <a:custGeom>
                <a:avLst/>
                <a:gdLst/>
                <a:ahLst/>
                <a:cxnLst/>
                <a:rect l="l" t="t" r="r" b="b"/>
                <a:pathLst>
                  <a:path w="1341846" h="641824">
                    <a:moveTo>
                      <a:pt x="0" y="0"/>
                    </a:moveTo>
                    <a:lnTo>
                      <a:pt x="1341846" y="0"/>
                    </a:lnTo>
                    <a:lnTo>
                      <a:pt x="1341846" y="641824"/>
                    </a:lnTo>
                    <a:lnTo>
                      <a:pt x="0" y="641824"/>
                    </a:lnTo>
                    <a:close/>
                  </a:path>
                </a:pathLst>
              </a:custGeom>
              <a:ln w="19050" cap="sq">
                <a:solidFill>
                  <a:srgbClr val="B4B4B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1341846" cy="6894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27323" y="262873"/>
              <a:ext cx="6374702" cy="2640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659"/>
                </a:lnSpc>
              </a:pPr>
              <a:r>
                <a:rPr lang="en-US" sz="1899" b="1">
                  <a:solidFill>
                    <a:srgbClr val="0B9722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from </a:t>
              </a:r>
              <a:r>
                <a:rPr lang="en-US" sz="1899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sklearn.linear_model </a:t>
              </a:r>
              <a:r>
                <a:rPr lang="en-US" sz="1899" b="1">
                  <a:solidFill>
                    <a:srgbClr val="0B9722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import </a:t>
              </a:r>
              <a:r>
                <a:rPr lang="en-US" sz="1899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LinearRegression</a:t>
              </a:r>
            </a:p>
            <a:p>
              <a:pPr algn="just">
                <a:lnSpc>
                  <a:spcPts val="2659"/>
                </a:lnSpc>
              </a:pPr>
              <a:endParaRPr lang="en-US" sz="189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model </a:t>
              </a:r>
              <a:r>
                <a:rPr lang="en-US" sz="1899" b="1">
                  <a:solidFill>
                    <a:srgbClr val="971DBE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= </a:t>
              </a:r>
              <a:r>
                <a:rPr lang="en-US" sz="1899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LinearRegression()</a:t>
              </a:r>
            </a:p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model.fit(X_train, y_train)</a:t>
              </a:r>
            </a:p>
            <a:p>
              <a:pPr algn="just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y_pred </a:t>
              </a:r>
              <a:r>
                <a:rPr lang="en-US" sz="1899" b="1">
                  <a:solidFill>
                    <a:srgbClr val="971DBE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= </a:t>
              </a:r>
              <a:r>
                <a:rPr lang="en-US" sz="1899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model.predict(X_test)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7204659" y="9027303"/>
            <a:ext cx="3570367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11111"/>
                </a:solidFill>
                <a:latin typeface="Poppins Bold"/>
                <a:ea typeface="Poppins Bold"/>
                <a:cs typeface="Poppins Bold"/>
                <a:sym typeface="Poppins Bold"/>
              </a:rPr>
              <a:t>Modèle principal utilisé pour prédire le Profit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2570821" y="5992630"/>
            <a:ext cx="5162502" cy="2211195"/>
            <a:chOff x="0" y="0"/>
            <a:chExt cx="6883336" cy="2948261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6883336" cy="2948261"/>
              <a:chOff x="0" y="0"/>
              <a:chExt cx="1359671" cy="58237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359671" cy="582372"/>
              </a:xfrm>
              <a:custGeom>
                <a:avLst/>
                <a:gdLst/>
                <a:ahLst/>
                <a:cxnLst/>
                <a:rect l="l" t="t" r="r" b="b"/>
                <a:pathLst>
                  <a:path w="1359671" h="582372">
                    <a:moveTo>
                      <a:pt x="0" y="0"/>
                    </a:moveTo>
                    <a:lnTo>
                      <a:pt x="1359671" y="0"/>
                    </a:lnTo>
                    <a:lnTo>
                      <a:pt x="1359671" y="582372"/>
                    </a:lnTo>
                    <a:lnTo>
                      <a:pt x="0" y="582372"/>
                    </a:lnTo>
                    <a:close/>
                  </a:path>
                </a:pathLst>
              </a:custGeom>
              <a:ln w="19050" cap="sq">
                <a:solidFill>
                  <a:srgbClr val="B4B4B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1359671" cy="6299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89081" y="250639"/>
              <a:ext cx="6759538" cy="2282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645" b="1">
                  <a:solidFill>
                    <a:srgbClr val="0B9722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from </a:t>
              </a:r>
              <a:r>
                <a:rPr lang="en-US" sz="1645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sklearn.neighbors </a:t>
              </a:r>
              <a:r>
                <a:rPr lang="en-US" sz="1645" b="1">
                  <a:solidFill>
                    <a:srgbClr val="0B9722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import </a:t>
              </a:r>
              <a:r>
                <a:rPr lang="en-US" sz="1645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KNeighborsRegressor</a:t>
              </a:r>
            </a:p>
            <a:p>
              <a:pPr algn="l">
                <a:lnSpc>
                  <a:spcPts val="2304"/>
                </a:lnSpc>
              </a:pPr>
              <a:endParaRPr lang="en-US" sz="1645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algn="l">
                <a:lnSpc>
                  <a:spcPts val="2304"/>
                </a:lnSpc>
              </a:pPr>
              <a:r>
                <a:rPr lang="en-US" sz="1645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knn </a:t>
              </a:r>
              <a:r>
                <a:rPr lang="en-US" sz="1645" b="1">
                  <a:solidFill>
                    <a:srgbClr val="971DBE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= </a:t>
              </a:r>
              <a:r>
                <a:rPr lang="en-US" sz="1645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KNeighborsRegressor(n_neighbors=1)</a:t>
              </a:r>
            </a:p>
            <a:p>
              <a:pPr algn="l">
                <a:lnSpc>
                  <a:spcPts val="2304"/>
                </a:lnSpc>
              </a:pPr>
              <a:r>
                <a:rPr lang="en-US" sz="1645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knn.fit(X_train_sc, y_train)</a:t>
              </a:r>
            </a:p>
            <a:p>
              <a:pPr algn="l">
                <a:lnSpc>
                  <a:spcPts val="2304"/>
                </a:lnSpc>
                <a:spcBef>
                  <a:spcPct val="0"/>
                </a:spcBef>
              </a:pPr>
              <a:r>
                <a:rPr lang="en-US" sz="1645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y_pred_knn </a:t>
              </a:r>
              <a:r>
                <a:rPr lang="en-US" sz="1645" b="1">
                  <a:solidFill>
                    <a:srgbClr val="971DBE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= </a:t>
              </a:r>
              <a:r>
                <a:rPr lang="en-US" sz="1645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knn.predict(X_test_sc)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984281" y="8422106"/>
            <a:ext cx="324338" cy="491819"/>
            <a:chOff x="0" y="0"/>
            <a:chExt cx="560538" cy="84998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60538" cy="849988"/>
            </a:xfrm>
            <a:custGeom>
              <a:avLst/>
              <a:gdLst/>
              <a:ahLst/>
              <a:cxnLst/>
              <a:rect l="l" t="t" r="r" b="b"/>
              <a:pathLst>
                <a:path w="560538" h="849988">
                  <a:moveTo>
                    <a:pt x="280269" y="849988"/>
                  </a:moveTo>
                  <a:lnTo>
                    <a:pt x="0" y="443588"/>
                  </a:lnTo>
                  <a:lnTo>
                    <a:pt x="203200" y="443588"/>
                  </a:lnTo>
                  <a:lnTo>
                    <a:pt x="203200" y="0"/>
                  </a:lnTo>
                  <a:lnTo>
                    <a:pt x="357338" y="0"/>
                  </a:lnTo>
                  <a:lnTo>
                    <a:pt x="357338" y="443588"/>
                  </a:lnTo>
                  <a:lnTo>
                    <a:pt x="560538" y="443588"/>
                  </a:lnTo>
                  <a:lnTo>
                    <a:pt x="280269" y="849988"/>
                  </a:lnTo>
                  <a:close/>
                </a:path>
              </a:pathLst>
            </a:custGeom>
            <a:solidFill>
              <a:srgbClr val="F11111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3200" y="-47625"/>
              <a:ext cx="154138" cy="796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3197433" y="9009523"/>
            <a:ext cx="3898033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11111"/>
                </a:solidFill>
                <a:latin typeface="Poppins Bold"/>
                <a:ea typeface="Poppins Bold"/>
                <a:cs typeface="Poppins Bold"/>
                <a:sym typeface="Poppins Bold"/>
              </a:rPr>
              <a:t>Modèle comparatif basé sur les voisins les plus proches</a:t>
            </a: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-1042225" y="1980220"/>
            <a:ext cx="2084451" cy="208445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83755" y="2627880"/>
            <a:ext cx="899025" cy="611082"/>
          </a:xfrm>
          <a:custGeom>
            <a:avLst/>
            <a:gdLst/>
            <a:ahLst/>
            <a:cxnLst/>
            <a:rect l="l" t="t" r="r" b="b"/>
            <a:pathLst>
              <a:path w="899025" h="611082">
                <a:moveTo>
                  <a:pt x="0" y="0"/>
                </a:moveTo>
                <a:lnTo>
                  <a:pt x="899025" y="0"/>
                </a:lnTo>
                <a:lnTo>
                  <a:pt x="899025" y="611082"/>
                </a:lnTo>
                <a:lnTo>
                  <a:pt x="0" y="611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0411" b="-14945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7" name="Freeform 7"/>
          <p:cNvSpPr/>
          <p:nvPr/>
        </p:nvSpPr>
        <p:spPr>
          <a:xfrm flipV="1">
            <a:off x="10237179" y="-1516852"/>
            <a:ext cx="8650655" cy="3341315"/>
          </a:xfrm>
          <a:custGeom>
            <a:avLst/>
            <a:gdLst/>
            <a:ahLst/>
            <a:cxnLst/>
            <a:rect l="l" t="t" r="r" b="b"/>
            <a:pathLst>
              <a:path w="8650655" h="3341315">
                <a:moveTo>
                  <a:pt x="0" y="3341316"/>
                </a:moveTo>
                <a:lnTo>
                  <a:pt x="8650655" y="3341316"/>
                </a:lnTo>
                <a:lnTo>
                  <a:pt x="8650655" y="0"/>
                </a:lnTo>
                <a:lnTo>
                  <a:pt x="0" y="0"/>
                </a:lnTo>
                <a:lnTo>
                  <a:pt x="0" y="33413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8" name="Freeform 8"/>
          <p:cNvSpPr/>
          <p:nvPr/>
        </p:nvSpPr>
        <p:spPr>
          <a:xfrm>
            <a:off x="16572181" y="473293"/>
            <a:ext cx="425685" cy="457071"/>
          </a:xfrm>
          <a:custGeom>
            <a:avLst/>
            <a:gdLst/>
            <a:ahLst/>
            <a:cxnLst/>
            <a:rect l="l" t="t" r="r" b="b"/>
            <a:pathLst>
              <a:path w="425685" h="457071">
                <a:moveTo>
                  <a:pt x="0" y="0"/>
                </a:moveTo>
                <a:lnTo>
                  <a:pt x="425685" y="0"/>
                </a:lnTo>
                <a:lnTo>
                  <a:pt x="425685" y="457071"/>
                </a:lnTo>
                <a:lnTo>
                  <a:pt x="0" y="457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57945" b="-139031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Freeform 9"/>
          <p:cNvSpPr/>
          <p:nvPr/>
        </p:nvSpPr>
        <p:spPr>
          <a:xfrm>
            <a:off x="3936842" y="2215425"/>
            <a:ext cx="8821910" cy="7738399"/>
          </a:xfrm>
          <a:custGeom>
            <a:avLst/>
            <a:gdLst/>
            <a:ahLst/>
            <a:cxnLst/>
            <a:rect l="l" t="t" r="r" b="b"/>
            <a:pathLst>
              <a:path w="8821910" h="7738399">
                <a:moveTo>
                  <a:pt x="0" y="0"/>
                </a:moveTo>
                <a:lnTo>
                  <a:pt x="8821910" y="0"/>
                </a:lnTo>
                <a:lnTo>
                  <a:pt x="8821910" y="7738399"/>
                </a:lnTo>
                <a:lnTo>
                  <a:pt x="0" y="7738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17" t="-7299" r="-2634" b="-9009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0" name="TextBox 10"/>
          <p:cNvSpPr txBox="1"/>
          <p:nvPr/>
        </p:nvSpPr>
        <p:spPr>
          <a:xfrm>
            <a:off x="1021610" y="942975"/>
            <a:ext cx="8600185" cy="755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4399">
                <a:solidFill>
                  <a:srgbClr val="3C7C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Évaluation des performances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18</a:t>
            </a: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rot="-381786">
            <a:off x="7760980" y="6901145"/>
            <a:ext cx="12205333" cy="4714310"/>
          </a:xfrm>
          <a:custGeom>
            <a:avLst/>
            <a:gdLst/>
            <a:ahLst/>
            <a:cxnLst/>
            <a:rect l="l" t="t" r="r" b="b"/>
            <a:pathLst>
              <a:path w="12205333" h="4714310">
                <a:moveTo>
                  <a:pt x="0" y="0"/>
                </a:moveTo>
                <a:lnTo>
                  <a:pt x="12205333" y="0"/>
                </a:lnTo>
                <a:lnTo>
                  <a:pt x="12205333" y="4714310"/>
                </a:lnTo>
                <a:lnTo>
                  <a:pt x="0" y="4714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11955726" y="7946275"/>
            <a:ext cx="3849023" cy="1068104"/>
          </a:xfrm>
          <a:custGeom>
            <a:avLst/>
            <a:gdLst/>
            <a:ahLst/>
            <a:cxnLst/>
            <a:rect l="l" t="t" r="r" b="b"/>
            <a:pathLst>
              <a:path w="3849023" h="1068104">
                <a:moveTo>
                  <a:pt x="0" y="0"/>
                </a:moveTo>
                <a:lnTo>
                  <a:pt x="3849023" y="0"/>
                </a:lnTo>
                <a:lnTo>
                  <a:pt x="3849023" y="1068104"/>
                </a:lnTo>
                <a:lnTo>
                  <a:pt x="0" y="106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5" name="TextBox 5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19</a:t>
            </a:r>
          </a:p>
        </p:txBody>
      </p:sp>
      <p:sp>
        <p:nvSpPr>
          <p:cNvPr id="6" name="Freeform 6"/>
          <p:cNvSpPr/>
          <p:nvPr/>
        </p:nvSpPr>
        <p:spPr>
          <a:xfrm rot="5316555">
            <a:off x="17145548" y="9011518"/>
            <a:ext cx="650613" cy="391892"/>
          </a:xfrm>
          <a:custGeom>
            <a:avLst/>
            <a:gdLst/>
            <a:ahLst/>
            <a:cxnLst/>
            <a:rect l="l" t="t" r="r" b="b"/>
            <a:pathLst>
              <a:path w="650613" h="391892">
                <a:moveTo>
                  <a:pt x="0" y="0"/>
                </a:moveTo>
                <a:lnTo>
                  <a:pt x="650613" y="0"/>
                </a:lnTo>
                <a:lnTo>
                  <a:pt x="650613" y="391892"/>
                </a:lnTo>
                <a:lnTo>
                  <a:pt x="0" y="391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2475" b="-151872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7" name="Group 7"/>
          <p:cNvGrpSpPr/>
          <p:nvPr/>
        </p:nvGrpSpPr>
        <p:grpSpPr>
          <a:xfrm>
            <a:off x="-805244" y="8291100"/>
            <a:ext cx="6875729" cy="916364"/>
            <a:chOff x="0" y="0"/>
            <a:chExt cx="3186267" cy="4246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86267" cy="424650"/>
            </a:xfrm>
            <a:custGeom>
              <a:avLst/>
              <a:gdLst/>
              <a:ahLst/>
              <a:cxnLst/>
              <a:rect l="l" t="t" r="r" b="b"/>
              <a:pathLst>
                <a:path w="3186267" h="424650">
                  <a:moveTo>
                    <a:pt x="2983067" y="0"/>
                  </a:moveTo>
                  <a:cubicBezTo>
                    <a:pt x="3095291" y="0"/>
                    <a:pt x="3186267" y="95061"/>
                    <a:pt x="3186267" y="212325"/>
                  </a:cubicBezTo>
                  <a:cubicBezTo>
                    <a:pt x="3186267" y="329589"/>
                    <a:pt x="3095291" y="424650"/>
                    <a:pt x="2983067" y="424650"/>
                  </a:cubicBezTo>
                  <a:lnTo>
                    <a:pt x="203200" y="424650"/>
                  </a:lnTo>
                  <a:cubicBezTo>
                    <a:pt x="90976" y="424650"/>
                    <a:pt x="0" y="329589"/>
                    <a:pt x="0" y="212325"/>
                  </a:cubicBezTo>
                  <a:cubicBezTo>
                    <a:pt x="0" y="95061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696CC">
                    <a:alpha val="100000"/>
                  </a:srgbClr>
                </a:gs>
                <a:gs pos="100000">
                  <a:srgbClr val="1B68C9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3186267" cy="49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r>
                <a:rPr lang="en-US" sz="235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</a:t>
              </a:r>
              <a:r>
                <a:rPr lang="en-US" sz="2354" b="1" u="sng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www.univ-poitiers.fr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130991" y="2523472"/>
            <a:ext cx="5767628" cy="5767628"/>
            <a:chOff x="0" y="0"/>
            <a:chExt cx="7690170" cy="769017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7690170" cy="769017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B68C9">
                      <a:alpha val="100000"/>
                    </a:srgbClr>
                  </a:gs>
                  <a:gs pos="50000">
                    <a:srgbClr val="6797C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57202" y="257202"/>
              <a:ext cx="7175767" cy="7175767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1143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sp>
        <p:nvSpPr>
          <p:cNvPr id="16" name="Freeform 16"/>
          <p:cNvSpPr/>
          <p:nvPr/>
        </p:nvSpPr>
        <p:spPr>
          <a:xfrm>
            <a:off x="827556" y="389861"/>
            <a:ext cx="2961473" cy="1817604"/>
          </a:xfrm>
          <a:custGeom>
            <a:avLst/>
            <a:gdLst/>
            <a:ahLst/>
            <a:cxnLst/>
            <a:rect l="l" t="t" r="r" b="b"/>
            <a:pathLst>
              <a:path w="2961473" h="1817604">
                <a:moveTo>
                  <a:pt x="0" y="0"/>
                </a:moveTo>
                <a:lnTo>
                  <a:pt x="2961474" y="0"/>
                </a:lnTo>
                <a:lnTo>
                  <a:pt x="2961474" y="1817604"/>
                </a:lnTo>
                <a:lnTo>
                  <a:pt x="0" y="1817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7" name="Freeform 17"/>
          <p:cNvSpPr/>
          <p:nvPr/>
        </p:nvSpPr>
        <p:spPr>
          <a:xfrm>
            <a:off x="4102941" y="206191"/>
            <a:ext cx="2817898" cy="2184944"/>
          </a:xfrm>
          <a:custGeom>
            <a:avLst/>
            <a:gdLst/>
            <a:ahLst/>
            <a:cxnLst/>
            <a:rect l="l" t="t" r="r" b="b"/>
            <a:pathLst>
              <a:path w="2817898" h="2184944">
                <a:moveTo>
                  <a:pt x="0" y="0"/>
                </a:moveTo>
                <a:lnTo>
                  <a:pt x="2817898" y="0"/>
                </a:lnTo>
                <a:lnTo>
                  <a:pt x="2817898" y="2184944"/>
                </a:lnTo>
                <a:lnTo>
                  <a:pt x="0" y="21849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16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8" name="TextBox 18"/>
          <p:cNvSpPr txBox="1"/>
          <p:nvPr/>
        </p:nvSpPr>
        <p:spPr>
          <a:xfrm>
            <a:off x="1028700" y="4023809"/>
            <a:ext cx="6921508" cy="187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5400">
                <a:solidFill>
                  <a:srgbClr val="1F202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 Conclusion et perspectives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293508" y="2523472"/>
            <a:ext cx="1605111" cy="160511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797C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233840" y="8010215"/>
            <a:ext cx="5041981" cy="1399150"/>
          </a:xfrm>
          <a:custGeom>
            <a:avLst/>
            <a:gdLst/>
            <a:ahLst/>
            <a:cxnLst/>
            <a:rect l="l" t="t" r="r" b="b"/>
            <a:pathLst>
              <a:path w="5041981" h="1399150">
                <a:moveTo>
                  <a:pt x="0" y="0"/>
                </a:moveTo>
                <a:lnTo>
                  <a:pt x="5041980" y="0"/>
                </a:lnTo>
                <a:lnTo>
                  <a:pt x="5041980" y="1399149"/>
                </a:lnTo>
                <a:lnTo>
                  <a:pt x="0" y="139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4" name="Group 4"/>
          <p:cNvGrpSpPr/>
          <p:nvPr/>
        </p:nvGrpSpPr>
        <p:grpSpPr>
          <a:xfrm>
            <a:off x="-834781" y="8709789"/>
            <a:ext cx="2662757" cy="266275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695020" y="8010215"/>
            <a:ext cx="5041981" cy="1399150"/>
          </a:xfrm>
          <a:custGeom>
            <a:avLst/>
            <a:gdLst/>
            <a:ahLst/>
            <a:cxnLst/>
            <a:rect l="l" t="t" r="r" b="b"/>
            <a:pathLst>
              <a:path w="5041981" h="1399150">
                <a:moveTo>
                  <a:pt x="0" y="0"/>
                </a:moveTo>
                <a:lnTo>
                  <a:pt x="5041981" y="0"/>
                </a:lnTo>
                <a:lnTo>
                  <a:pt x="5041981" y="1399149"/>
                </a:lnTo>
                <a:lnTo>
                  <a:pt x="0" y="139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8" name="Group 8"/>
          <p:cNvGrpSpPr/>
          <p:nvPr/>
        </p:nvGrpSpPr>
        <p:grpSpPr>
          <a:xfrm>
            <a:off x="600615" y="4878392"/>
            <a:ext cx="6308431" cy="4001392"/>
            <a:chOff x="0" y="0"/>
            <a:chExt cx="1198787" cy="7603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8787" cy="760382"/>
            </a:xfrm>
            <a:custGeom>
              <a:avLst/>
              <a:gdLst/>
              <a:ahLst/>
              <a:cxnLst/>
              <a:rect l="l" t="t" r="r" b="b"/>
              <a:pathLst>
                <a:path w="1198787" h="760382">
                  <a:moveTo>
                    <a:pt x="599394" y="0"/>
                  </a:moveTo>
                  <a:cubicBezTo>
                    <a:pt x="268358" y="0"/>
                    <a:pt x="0" y="170217"/>
                    <a:pt x="0" y="380191"/>
                  </a:cubicBezTo>
                  <a:cubicBezTo>
                    <a:pt x="0" y="590165"/>
                    <a:pt x="268358" y="760382"/>
                    <a:pt x="599394" y="760382"/>
                  </a:cubicBezTo>
                  <a:cubicBezTo>
                    <a:pt x="930429" y="760382"/>
                    <a:pt x="1198787" y="590165"/>
                    <a:pt x="1198787" y="380191"/>
                  </a:cubicBezTo>
                  <a:cubicBezTo>
                    <a:pt x="1198787" y="170217"/>
                    <a:pt x="930429" y="0"/>
                    <a:pt x="599394" y="0"/>
                  </a:cubicBezTo>
                  <a:close/>
                </a:path>
              </a:pathLst>
            </a:custGeom>
            <a:solidFill>
              <a:srgbClr val="4C7DBB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386" y="23661"/>
              <a:ext cx="974014" cy="665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217319" y="8010215"/>
            <a:ext cx="5041981" cy="1399150"/>
          </a:xfrm>
          <a:custGeom>
            <a:avLst/>
            <a:gdLst/>
            <a:ahLst/>
            <a:cxnLst/>
            <a:rect l="l" t="t" r="r" b="b"/>
            <a:pathLst>
              <a:path w="5041981" h="1399150">
                <a:moveTo>
                  <a:pt x="0" y="0"/>
                </a:moveTo>
                <a:lnTo>
                  <a:pt x="5041981" y="0"/>
                </a:lnTo>
                <a:lnTo>
                  <a:pt x="5041981" y="1399149"/>
                </a:lnTo>
                <a:lnTo>
                  <a:pt x="0" y="139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12" name="Group 12"/>
          <p:cNvGrpSpPr/>
          <p:nvPr/>
        </p:nvGrpSpPr>
        <p:grpSpPr>
          <a:xfrm>
            <a:off x="6119387" y="4878392"/>
            <a:ext cx="6308431" cy="4001392"/>
            <a:chOff x="0" y="0"/>
            <a:chExt cx="1198787" cy="7603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8787" cy="760382"/>
            </a:xfrm>
            <a:custGeom>
              <a:avLst/>
              <a:gdLst/>
              <a:ahLst/>
              <a:cxnLst/>
              <a:rect l="l" t="t" r="r" b="b"/>
              <a:pathLst>
                <a:path w="1198787" h="760382">
                  <a:moveTo>
                    <a:pt x="599394" y="0"/>
                  </a:moveTo>
                  <a:cubicBezTo>
                    <a:pt x="268358" y="0"/>
                    <a:pt x="0" y="170217"/>
                    <a:pt x="0" y="380191"/>
                  </a:cubicBezTo>
                  <a:cubicBezTo>
                    <a:pt x="0" y="590165"/>
                    <a:pt x="268358" y="760382"/>
                    <a:pt x="599394" y="760382"/>
                  </a:cubicBezTo>
                  <a:cubicBezTo>
                    <a:pt x="930429" y="760382"/>
                    <a:pt x="1198787" y="590165"/>
                    <a:pt x="1198787" y="380191"/>
                  </a:cubicBezTo>
                  <a:cubicBezTo>
                    <a:pt x="1198787" y="170217"/>
                    <a:pt x="930429" y="0"/>
                    <a:pt x="599394" y="0"/>
                  </a:cubicBezTo>
                  <a:close/>
                </a:path>
              </a:pathLst>
            </a:custGeom>
            <a:solidFill>
              <a:srgbClr val="84C0E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86" y="23661"/>
              <a:ext cx="974014" cy="665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702804" y="4878392"/>
            <a:ext cx="5984581" cy="4001392"/>
            <a:chOff x="0" y="0"/>
            <a:chExt cx="1137246" cy="7603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37246" cy="760382"/>
            </a:xfrm>
            <a:custGeom>
              <a:avLst/>
              <a:gdLst/>
              <a:ahLst/>
              <a:cxnLst/>
              <a:rect l="l" t="t" r="r" b="b"/>
              <a:pathLst>
                <a:path w="1137246" h="760382">
                  <a:moveTo>
                    <a:pt x="568623" y="0"/>
                  </a:moveTo>
                  <a:cubicBezTo>
                    <a:pt x="254581" y="0"/>
                    <a:pt x="0" y="170217"/>
                    <a:pt x="0" y="380191"/>
                  </a:cubicBezTo>
                  <a:cubicBezTo>
                    <a:pt x="0" y="590165"/>
                    <a:pt x="254581" y="760382"/>
                    <a:pt x="568623" y="760382"/>
                  </a:cubicBezTo>
                  <a:cubicBezTo>
                    <a:pt x="882665" y="760382"/>
                    <a:pt x="1137246" y="590165"/>
                    <a:pt x="1137246" y="380191"/>
                  </a:cubicBezTo>
                  <a:cubicBezTo>
                    <a:pt x="1137246" y="170217"/>
                    <a:pt x="882665" y="0"/>
                    <a:pt x="568623" y="0"/>
                  </a:cubicBezTo>
                  <a:close/>
                </a:path>
              </a:pathLst>
            </a:custGeom>
            <a:solidFill>
              <a:srgbClr val="598CC7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17" y="23661"/>
              <a:ext cx="924012" cy="665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17005" y="4383554"/>
            <a:ext cx="4075650" cy="937607"/>
            <a:chOff x="0" y="0"/>
            <a:chExt cx="1142981" cy="2629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2981" cy="262944"/>
            </a:xfrm>
            <a:custGeom>
              <a:avLst/>
              <a:gdLst/>
              <a:ahLst/>
              <a:cxnLst/>
              <a:rect l="l" t="t" r="r" b="b"/>
              <a:pathLst>
                <a:path w="1142981" h="262944">
                  <a:moveTo>
                    <a:pt x="131472" y="0"/>
                  </a:moveTo>
                  <a:lnTo>
                    <a:pt x="1011509" y="0"/>
                  </a:lnTo>
                  <a:cubicBezTo>
                    <a:pt x="1084119" y="0"/>
                    <a:pt x="1142981" y="58862"/>
                    <a:pt x="1142981" y="131472"/>
                  </a:cubicBezTo>
                  <a:lnTo>
                    <a:pt x="1142981" y="131472"/>
                  </a:lnTo>
                  <a:cubicBezTo>
                    <a:pt x="1142981" y="166340"/>
                    <a:pt x="1129129" y="199781"/>
                    <a:pt x="1104473" y="224437"/>
                  </a:cubicBezTo>
                  <a:cubicBezTo>
                    <a:pt x="1079818" y="249092"/>
                    <a:pt x="1046377" y="262944"/>
                    <a:pt x="1011509" y="262944"/>
                  </a:cubicBezTo>
                  <a:lnTo>
                    <a:pt x="131472" y="262944"/>
                  </a:lnTo>
                  <a:cubicBezTo>
                    <a:pt x="58862" y="262944"/>
                    <a:pt x="0" y="204082"/>
                    <a:pt x="0" y="131472"/>
                  </a:cubicBezTo>
                  <a:lnTo>
                    <a:pt x="0" y="131472"/>
                  </a:lnTo>
                  <a:cubicBezTo>
                    <a:pt x="0" y="58862"/>
                    <a:pt x="58862" y="0"/>
                    <a:pt x="131472" y="0"/>
                  </a:cubicBezTo>
                  <a:close/>
                </a:path>
              </a:pathLst>
            </a:custGeom>
            <a:solidFill>
              <a:srgbClr val="F1F0EF"/>
            </a:solidFill>
            <a:ln w="5715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142981" cy="31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35777" y="4383554"/>
            <a:ext cx="4075650" cy="937607"/>
            <a:chOff x="0" y="0"/>
            <a:chExt cx="1142981" cy="2629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42981" cy="262944"/>
            </a:xfrm>
            <a:custGeom>
              <a:avLst/>
              <a:gdLst/>
              <a:ahLst/>
              <a:cxnLst/>
              <a:rect l="l" t="t" r="r" b="b"/>
              <a:pathLst>
                <a:path w="1142981" h="262944">
                  <a:moveTo>
                    <a:pt x="131472" y="0"/>
                  </a:moveTo>
                  <a:lnTo>
                    <a:pt x="1011509" y="0"/>
                  </a:lnTo>
                  <a:cubicBezTo>
                    <a:pt x="1084119" y="0"/>
                    <a:pt x="1142981" y="58862"/>
                    <a:pt x="1142981" y="131472"/>
                  </a:cubicBezTo>
                  <a:lnTo>
                    <a:pt x="1142981" y="131472"/>
                  </a:lnTo>
                  <a:cubicBezTo>
                    <a:pt x="1142981" y="166340"/>
                    <a:pt x="1129129" y="199781"/>
                    <a:pt x="1104473" y="224437"/>
                  </a:cubicBezTo>
                  <a:cubicBezTo>
                    <a:pt x="1079818" y="249092"/>
                    <a:pt x="1046377" y="262944"/>
                    <a:pt x="1011509" y="262944"/>
                  </a:cubicBezTo>
                  <a:lnTo>
                    <a:pt x="131472" y="262944"/>
                  </a:lnTo>
                  <a:cubicBezTo>
                    <a:pt x="58862" y="262944"/>
                    <a:pt x="0" y="204082"/>
                    <a:pt x="0" y="131472"/>
                  </a:cubicBezTo>
                  <a:lnTo>
                    <a:pt x="0" y="131472"/>
                  </a:lnTo>
                  <a:cubicBezTo>
                    <a:pt x="0" y="58862"/>
                    <a:pt x="58862" y="0"/>
                    <a:pt x="131472" y="0"/>
                  </a:cubicBezTo>
                  <a:close/>
                </a:path>
              </a:pathLst>
            </a:custGeom>
            <a:solidFill>
              <a:srgbClr val="F1F0EF"/>
            </a:solidFill>
            <a:ln w="5715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142981" cy="31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706893" y="4383554"/>
            <a:ext cx="4075650" cy="937607"/>
            <a:chOff x="0" y="0"/>
            <a:chExt cx="1142981" cy="2629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2981" cy="262944"/>
            </a:xfrm>
            <a:custGeom>
              <a:avLst/>
              <a:gdLst/>
              <a:ahLst/>
              <a:cxnLst/>
              <a:rect l="l" t="t" r="r" b="b"/>
              <a:pathLst>
                <a:path w="1142981" h="262944">
                  <a:moveTo>
                    <a:pt x="131472" y="0"/>
                  </a:moveTo>
                  <a:lnTo>
                    <a:pt x="1011509" y="0"/>
                  </a:lnTo>
                  <a:cubicBezTo>
                    <a:pt x="1084119" y="0"/>
                    <a:pt x="1142981" y="58862"/>
                    <a:pt x="1142981" y="131472"/>
                  </a:cubicBezTo>
                  <a:lnTo>
                    <a:pt x="1142981" y="131472"/>
                  </a:lnTo>
                  <a:cubicBezTo>
                    <a:pt x="1142981" y="166340"/>
                    <a:pt x="1129129" y="199781"/>
                    <a:pt x="1104473" y="224437"/>
                  </a:cubicBezTo>
                  <a:cubicBezTo>
                    <a:pt x="1079818" y="249092"/>
                    <a:pt x="1046377" y="262944"/>
                    <a:pt x="1011509" y="262944"/>
                  </a:cubicBezTo>
                  <a:lnTo>
                    <a:pt x="131472" y="262944"/>
                  </a:lnTo>
                  <a:cubicBezTo>
                    <a:pt x="58862" y="262944"/>
                    <a:pt x="0" y="204082"/>
                    <a:pt x="0" y="131472"/>
                  </a:cubicBezTo>
                  <a:lnTo>
                    <a:pt x="0" y="131472"/>
                  </a:lnTo>
                  <a:cubicBezTo>
                    <a:pt x="0" y="58862"/>
                    <a:pt x="58862" y="0"/>
                    <a:pt x="131472" y="0"/>
                  </a:cubicBezTo>
                  <a:close/>
                </a:path>
              </a:pathLst>
            </a:custGeom>
            <a:solidFill>
              <a:srgbClr val="F1F0EF"/>
            </a:solidFill>
            <a:ln w="5715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142981" cy="31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 rot="1371516" flipV="1">
            <a:off x="6136767" y="8463324"/>
            <a:ext cx="704188" cy="492932"/>
          </a:xfrm>
          <a:custGeom>
            <a:avLst/>
            <a:gdLst/>
            <a:ahLst/>
            <a:cxnLst/>
            <a:rect l="l" t="t" r="r" b="b"/>
            <a:pathLst>
              <a:path w="704188" h="492932">
                <a:moveTo>
                  <a:pt x="0" y="492931"/>
                </a:moveTo>
                <a:lnTo>
                  <a:pt x="704188" y="492931"/>
                </a:lnTo>
                <a:lnTo>
                  <a:pt x="704188" y="0"/>
                </a:lnTo>
                <a:lnTo>
                  <a:pt x="0" y="0"/>
                </a:lnTo>
                <a:lnTo>
                  <a:pt x="0" y="49293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28" name="Freeform 28"/>
          <p:cNvSpPr/>
          <p:nvPr/>
        </p:nvSpPr>
        <p:spPr>
          <a:xfrm rot="1371516" flipV="1">
            <a:off x="11655539" y="8463324"/>
            <a:ext cx="704188" cy="492932"/>
          </a:xfrm>
          <a:custGeom>
            <a:avLst/>
            <a:gdLst/>
            <a:ahLst/>
            <a:cxnLst/>
            <a:rect l="l" t="t" r="r" b="b"/>
            <a:pathLst>
              <a:path w="704188" h="492932">
                <a:moveTo>
                  <a:pt x="0" y="492931"/>
                </a:moveTo>
                <a:lnTo>
                  <a:pt x="704188" y="492931"/>
                </a:lnTo>
                <a:lnTo>
                  <a:pt x="704188" y="0"/>
                </a:lnTo>
                <a:lnTo>
                  <a:pt x="0" y="0"/>
                </a:lnTo>
                <a:lnTo>
                  <a:pt x="0" y="49293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29" name="Group 29"/>
          <p:cNvGrpSpPr/>
          <p:nvPr/>
        </p:nvGrpSpPr>
        <p:grpSpPr>
          <a:xfrm>
            <a:off x="17259300" y="44041"/>
            <a:ext cx="2662757" cy="2662757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 rot="5316555">
            <a:off x="491839" y="883590"/>
            <a:ext cx="650613" cy="391892"/>
          </a:xfrm>
          <a:custGeom>
            <a:avLst/>
            <a:gdLst/>
            <a:ahLst/>
            <a:cxnLst/>
            <a:rect l="l" t="t" r="r" b="b"/>
            <a:pathLst>
              <a:path w="650613" h="391892">
                <a:moveTo>
                  <a:pt x="0" y="0"/>
                </a:moveTo>
                <a:lnTo>
                  <a:pt x="650613" y="0"/>
                </a:lnTo>
                <a:lnTo>
                  <a:pt x="650613" y="391892"/>
                </a:lnTo>
                <a:lnTo>
                  <a:pt x="0" y="391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2475" b="-151872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3" name="Freeform 33"/>
          <p:cNvSpPr/>
          <p:nvPr/>
        </p:nvSpPr>
        <p:spPr>
          <a:xfrm rot="5316555">
            <a:off x="17145548" y="9011518"/>
            <a:ext cx="650613" cy="391892"/>
          </a:xfrm>
          <a:custGeom>
            <a:avLst/>
            <a:gdLst/>
            <a:ahLst/>
            <a:cxnLst/>
            <a:rect l="l" t="t" r="r" b="b"/>
            <a:pathLst>
              <a:path w="650613" h="391892">
                <a:moveTo>
                  <a:pt x="0" y="0"/>
                </a:moveTo>
                <a:lnTo>
                  <a:pt x="650613" y="0"/>
                </a:lnTo>
                <a:lnTo>
                  <a:pt x="650613" y="391892"/>
                </a:lnTo>
                <a:lnTo>
                  <a:pt x="0" y="391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52475" b="-151872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4" name="TextBox 34"/>
          <p:cNvSpPr txBox="1"/>
          <p:nvPr/>
        </p:nvSpPr>
        <p:spPr>
          <a:xfrm>
            <a:off x="1875865" y="4514223"/>
            <a:ext cx="375793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3C7CCB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Objectif du projet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94637" y="4514223"/>
            <a:ext cx="375793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3C7CCB"/>
                </a:solidFill>
                <a:latin typeface="Poppins Bold"/>
                <a:ea typeface="Poppins Bold"/>
                <a:cs typeface="Poppins Bold"/>
                <a:sym typeface="Poppins Bold"/>
              </a:rPr>
              <a:t>Réalisations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968893" y="4514223"/>
            <a:ext cx="3538834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3C7CCB"/>
                </a:solidFill>
                <a:latin typeface="Poppins Bold"/>
                <a:ea typeface="Poppins Bold"/>
                <a:cs typeface="Poppins Bold"/>
                <a:sym typeface="Poppins Bold"/>
              </a:rPr>
              <a:t> Bilan et Apports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27976" y="1680010"/>
            <a:ext cx="4950425" cy="11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  <a:spcBef>
                <a:spcPct val="0"/>
              </a:spcBef>
            </a:pPr>
            <a:r>
              <a:rPr lang="en-US" sz="6800">
                <a:solidFill>
                  <a:srgbClr val="3C7C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61287" y="5858263"/>
            <a:ext cx="4431368" cy="2164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5" lvl="1" indent="-248288" algn="l">
              <a:lnSpc>
                <a:spcPts val="4393"/>
              </a:lnSpc>
              <a:buFont typeface="Arial"/>
              <a:buChar char="•"/>
            </a:pPr>
            <a:r>
              <a:rPr lang="en-US" sz="2300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Étudier le modèle de régression linéaire</a:t>
            </a:r>
          </a:p>
          <a:p>
            <a:pPr marL="496575" lvl="1" indent="-248288" algn="l">
              <a:lnSpc>
                <a:spcPts val="4393"/>
              </a:lnSpc>
              <a:buFont typeface="Arial"/>
              <a:buChar char="•"/>
            </a:pPr>
            <a:r>
              <a:rPr lang="en-US" sz="2300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L’appliquer à la prédiction du profit de startups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09046" y="5602929"/>
            <a:ext cx="4911686" cy="2674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5" lvl="1" indent="-248288" algn="l">
              <a:lnSpc>
                <a:spcPts val="4347"/>
              </a:lnSpc>
              <a:buFont typeface="Arial"/>
              <a:buChar char="•"/>
            </a:pPr>
            <a:r>
              <a:rPr lang="en-US" sz="2300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Préparation et exploration des données</a:t>
            </a:r>
          </a:p>
          <a:p>
            <a:pPr marL="496575" lvl="1" indent="-248288" algn="l">
              <a:lnSpc>
                <a:spcPts val="4347"/>
              </a:lnSpc>
              <a:buFont typeface="Arial"/>
              <a:buChar char="•"/>
            </a:pPr>
            <a:r>
              <a:rPr lang="en-US" sz="2300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Construction de deux modèles : régression linéaire multiple et KNN Regressor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288875" y="5669604"/>
            <a:ext cx="4911686" cy="2355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5" lvl="1" indent="-248288" algn="l">
              <a:lnSpc>
                <a:spcPts val="3634"/>
              </a:lnSpc>
              <a:buFont typeface="Arial"/>
              <a:buChar char="•"/>
            </a:pPr>
            <a:r>
              <a:rPr lang="en-US" sz="2300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Approfondissement de la</a:t>
            </a:r>
          </a:p>
          <a:p>
            <a:pPr algn="ctr">
              <a:lnSpc>
                <a:spcPts val="4324"/>
              </a:lnSpc>
            </a:pPr>
            <a:r>
              <a:rPr lang="en-US" sz="2300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régression linéaire</a:t>
            </a:r>
          </a:p>
          <a:p>
            <a:pPr marL="496575" lvl="1" indent="-248288" algn="l">
              <a:lnSpc>
                <a:spcPts val="3634"/>
              </a:lnSpc>
              <a:buFont typeface="Arial"/>
              <a:buChar char="•"/>
            </a:pPr>
            <a:r>
              <a:rPr lang="en-US" sz="2300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Meilleure compréhension d’un projet d’apprentissage statistique</a:t>
            </a: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3" b="-8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V="1">
            <a:off x="12414659" y="-1541090"/>
            <a:ext cx="6653179" cy="2569790"/>
          </a:xfrm>
          <a:custGeom>
            <a:avLst/>
            <a:gdLst/>
            <a:ahLst/>
            <a:cxnLst/>
            <a:rect l="l" t="t" r="r" b="b"/>
            <a:pathLst>
              <a:path w="6653179" h="2569790">
                <a:moveTo>
                  <a:pt x="0" y="2569790"/>
                </a:moveTo>
                <a:lnTo>
                  <a:pt x="6653179" y="2569790"/>
                </a:lnTo>
                <a:lnTo>
                  <a:pt x="6653179" y="0"/>
                </a:lnTo>
                <a:lnTo>
                  <a:pt x="0" y="0"/>
                </a:lnTo>
                <a:lnTo>
                  <a:pt x="0" y="25697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4" name="Group 4"/>
          <p:cNvGrpSpPr/>
          <p:nvPr/>
        </p:nvGrpSpPr>
        <p:grpSpPr>
          <a:xfrm>
            <a:off x="9560043" y="2068875"/>
            <a:ext cx="7397243" cy="1933480"/>
            <a:chOff x="0" y="0"/>
            <a:chExt cx="1948307" cy="5092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48307" cy="509270"/>
            </a:xfrm>
            <a:custGeom>
              <a:avLst/>
              <a:gdLst/>
              <a:ahLst/>
              <a:cxnLst/>
              <a:rect l="l" t="t" r="r" b="b"/>
              <a:pathLst>
                <a:path w="1948307" h="509270">
                  <a:moveTo>
                    <a:pt x="1948307" y="31398"/>
                  </a:moveTo>
                  <a:lnTo>
                    <a:pt x="1948307" y="477872"/>
                  </a:lnTo>
                  <a:cubicBezTo>
                    <a:pt x="1948307" y="495213"/>
                    <a:pt x="1934250" y="509270"/>
                    <a:pt x="1916909" y="509270"/>
                  </a:cubicBezTo>
                  <a:lnTo>
                    <a:pt x="31398" y="509270"/>
                  </a:lnTo>
                  <a:cubicBezTo>
                    <a:pt x="14057" y="509270"/>
                    <a:pt x="0" y="495213"/>
                    <a:pt x="0" y="477872"/>
                  </a:cubicBezTo>
                  <a:lnTo>
                    <a:pt x="0" y="31398"/>
                  </a:lnTo>
                  <a:cubicBezTo>
                    <a:pt x="0" y="14057"/>
                    <a:pt x="14057" y="0"/>
                    <a:pt x="31398" y="0"/>
                  </a:cubicBezTo>
                  <a:lnTo>
                    <a:pt x="1916909" y="0"/>
                  </a:lnTo>
                  <a:cubicBezTo>
                    <a:pt x="1934250" y="0"/>
                    <a:pt x="1948307" y="14057"/>
                    <a:pt x="1948307" y="31398"/>
                  </a:cubicBezTo>
                  <a:close/>
                </a:path>
              </a:pathLst>
            </a:custGeom>
            <a:solidFill>
              <a:srgbClr val="84C0E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948307" cy="556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60043" y="4645578"/>
            <a:ext cx="7397243" cy="1933451"/>
            <a:chOff x="0" y="0"/>
            <a:chExt cx="1948245" cy="5092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48245" cy="509222"/>
            </a:xfrm>
            <a:custGeom>
              <a:avLst/>
              <a:gdLst/>
              <a:ahLst/>
              <a:cxnLst/>
              <a:rect l="l" t="t" r="r" b="b"/>
              <a:pathLst>
                <a:path w="1948245" h="509222">
                  <a:moveTo>
                    <a:pt x="31398" y="0"/>
                  </a:moveTo>
                  <a:lnTo>
                    <a:pt x="1916847" y="0"/>
                  </a:lnTo>
                  <a:cubicBezTo>
                    <a:pt x="1934188" y="0"/>
                    <a:pt x="1948245" y="14057"/>
                    <a:pt x="1948245" y="31398"/>
                  </a:cubicBezTo>
                  <a:lnTo>
                    <a:pt x="1948245" y="477824"/>
                  </a:lnTo>
                  <a:cubicBezTo>
                    <a:pt x="1948245" y="495164"/>
                    <a:pt x="1934188" y="509222"/>
                    <a:pt x="1916847" y="509222"/>
                  </a:cubicBezTo>
                  <a:lnTo>
                    <a:pt x="31398" y="509222"/>
                  </a:lnTo>
                  <a:cubicBezTo>
                    <a:pt x="14057" y="509222"/>
                    <a:pt x="0" y="495164"/>
                    <a:pt x="0" y="477824"/>
                  </a:cubicBezTo>
                  <a:lnTo>
                    <a:pt x="0" y="31398"/>
                  </a:lnTo>
                  <a:cubicBezTo>
                    <a:pt x="0" y="14057"/>
                    <a:pt x="14057" y="0"/>
                    <a:pt x="31398" y="0"/>
                  </a:cubicBezTo>
                  <a:close/>
                </a:path>
              </a:pathLst>
            </a:custGeom>
            <a:solidFill>
              <a:srgbClr val="84C0E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948245" cy="556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60043" y="7199545"/>
            <a:ext cx="7397243" cy="1933451"/>
            <a:chOff x="0" y="0"/>
            <a:chExt cx="1948245" cy="5092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48245" cy="509222"/>
            </a:xfrm>
            <a:custGeom>
              <a:avLst/>
              <a:gdLst/>
              <a:ahLst/>
              <a:cxnLst/>
              <a:rect l="l" t="t" r="r" b="b"/>
              <a:pathLst>
                <a:path w="1948245" h="509222">
                  <a:moveTo>
                    <a:pt x="31398" y="0"/>
                  </a:moveTo>
                  <a:lnTo>
                    <a:pt x="1916847" y="0"/>
                  </a:lnTo>
                  <a:cubicBezTo>
                    <a:pt x="1934188" y="0"/>
                    <a:pt x="1948245" y="14057"/>
                    <a:pt x="1948245" y="31398"/>
                  </a:cubicBezTo>
                  <a:lnTo>
                    <a:pt x="1948245" y="477824"/>
                  </a:lnTo>
                  <a:cubicBezTo>
                    <a:pt x="1948245" y="495164"/>
                    <a:pt x="1934188" y="509222"/>
                    <a:pt x="1916847" y="509222"/>
                  </a:cubicBezTo>
                  <a:lnTo>
                    <a:pt x="31398" y="509222"/>
                  </a:lnTo>
                  <a:cubicBezTo>
                    <a:pt x="14057" y="509222"/>
                    <a:pt x="0" y="495164"/>
                    <a:pt x="0" y="477824"/>
                  </a:cubicBezTo>
                  <a:lnTo>
                    <a:pt x="0" y="31398"/>
                  </a:lnTo>
                  <a:cubicBezTo>
                    <a:pt x="0" y="14057"/>
                    <a:pt x="14057" y="0"/>
                    <a:pt x="31398" y="0"/>
                  </a:cubicBezTo>
                  <a:close/>
                </a:path>
              </a:pathLst>
            </a:custGeom>
            <a:solidFill>
              <a:srgbClr val="84C0E4"/>
            </a:solidFill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48245" cy="556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900689" y="2034382"/>
            <a:ext cx="476454" cy="6989157"/>
          </a:xfrm>
          <a:custGeom>
            <a:avLst/>
            <a:gdLst/>
            <a:ahLst/>
            <a:cxnLst/>
            <a:rect l="l" t="t" r="r" b="b"/>
            <a:pathLst>
              <a:path w="476454" h="6989157">
                <a:moveTo>
                  <a:pt x="0" y="6989156"/>
                </a:moveTo>
                <a:lnTo>
                  <a:pt x="247854" y="6989156"/>
                </a:lnTo>
                <a:cubicBezTo>
                  <a:pt x="308483" y="6989156"/>
                  <a:pt x="366628" y="6965072"/>
                  <a:pt x="409498" y="6922201"/>
                </a:cubicBezTo>
                <a:cubicBezTo>
                  <a:pt x="452369" y="6879331"/>
                  <a:pt x="476454" y="6821185"/>
                  <a:pt x="476454" y="6760556"/>
                </a:cubicBezTo>
                <a:lnTo>
                  <a:pt x="476454" y="228600"/>
                </a:lnTo>
                <a:cubicBezTo>
                  <a:pt x="476454" y="102347"/>
                  <a:pt x="374106" y="0"/>
                  <a:pt x="247854" y="0"/>
                </a:cubicBezTo>
                <a:lnTo>
                  <a:pt x="0" y="0"/>
                </a:lnTo>
              </a:path>
            </a:pathLst>
          </a:custGeom>
          <a:ln w="38100" cap="flat">
            <a:solidFill>
              <a:srgbClr val="000E2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AutoShape 14"/>
          <p:cNvSpPr/>
          <p:nvPr/>
        </p:nvSpPr>
        <p:spPr>
          <a:xfrm>
            <a:off x="8396193" y="3016111"/>
            <a:ext cx="866870" cy="0"/>
          </a:xfrm>
          <a:prstGeom prst="line">
            <a:avLst/>
          </a:prstGeom>
          <a:ln w="38100" cap="flat">
            <a:solidFill>
              <a:srgbClr val="000E24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AutoShape 15"/>
          <p:cNvSpPr/>
          <p:nvPr/>
        </p:nvSpPr>
        <p:spPr>
          <a:xfrm>
            <a:off x="8396193" y="5591191"/>
            <a:ext cx="866870" cy="0"/>
          </a:xfrm>
          <a:prstGeom prst="line">
            <a:avLst/>
          </a:prstGeom>
          <a:ln w="38100" cap="flat">
            <a:solidFill>
              <a:srgbClr val="000E24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AutoShape 16"/>
          <p:cNvSpPr/>
          <p:nvPr/>
        </p:nvSpPr>
        <p:spPr>
          <a:xfrm>
            <a:off x="8396193" y="8166271"/>
            <a:ext cx="866870" cy="0"/>
          </a:xfrm>
          <a:prstGeom prst="line">
            <a:avLst/>
          </a:prstGeom>
          <a:ln w="38100" cap="flat">
            <a:solidFill>
              <a:srgbClr val="000E24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LID4096"/>
          </a:p>
        </p:txBody>
      </p:sp>
      <p:grpSp>
        <p:nvGrpSpPr>
          <p:cNvPr id="17" name="Group 17"/>
          <p:cNvGrpSpPr/>
          <p:nvPr/>
        </p:nvGrpSpPr>
        <p:grpSpPr>
          <a:xfrm>
            <a:off x="-959201" y="5849652"/>
            <a:ext cx="3975803" cy="397580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028700" y="5143500"/>
            <a:ext cx="6413894" cy="6413894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655320" y="655320"/>
              <a:ext cx="5039360" cy="5039360"/>
            </a:xfrm>
            <a:custGeom>
              <a:avLst/>
              <a:gdLst/>
              <a:ahLst/>
              <a:cxnLst/>
              <a:rect l="l" t="t" r="r" b="b"/>
              <a:pathLst>
                <a:path w="5039360" h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4"/>
              <a:stretch>
                <a:fillRect t="-398" b="-29261"/>
              </a:stretch>
            </a:blipFill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3C7CCB"/>
            </a:solid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6531601" y="1085850"/>
            <a:ext cx="425685" cy="457071"/>
          </a:xfrm>
          <a:custGeom>
            <a:avLst/>
            <a:gdLst/>
            <a:ahLst/>
            <a:cxnLst/>
            <a:rect l="l" t="t" r="r" b="b"/>
            <a:pathLst>
              <a:path w="425685" h="457071">
                <a:moveTo>
                  <a:pt x="0" y="0"/>
                </a:moveTo>
                <a:lnTo>
                  <a:pt x="425685" y="0"/>
                </a:lnTo>
                <a:lnTo>
                  <a:pt x="425685" y="457071"/>
                </a:lnTo>
                <a:lnTo>
                  <a:pt x="0" y="457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57945" b="-139031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24" name="Group 24"/>
          <p:cNvGrpSpPr/>
          <p:nvPr/>
        </p:nvGrpSpPr>
        <p:grpSpPr>
          <a:xfrm>
            <a:off x="10886528" y="1600071"/>
            <a:ext cx="4744273" cy="937607"/>
            <a:chOff x="0" y="0"/>
            <a:chExt cx="1330490" cy="2629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30490" cy="262944"/>
            </a:xfrm>
            <a:custGeom>
              <a:avLst/>
              <a:gdLst/>
              <a:ahLst/>
              <a:cxnLst/>
              <a:rect l="l" t="t" r="r" b="b"/>
              <a:pathLst>
                <a:path w="1330490" h="262944">
                  <a:moveTo>
                    <a:pt x="131472" y="0"/>
                  </a:moveTo>
                  <a:lnTo>
                    <a:pt x="1199018" y="0"/>
                  </a:lnTo>
                  <a:cubicBezTo>
                    <a:pt x="1233887" y="0"/>
                    <a:pt x="1267327" y="13851"/>
                    <a:pt x="1291983" y="38507"/>
                  </a:cubicBezTo>
                  <a:cubicBezTo>
                    <a:pt x="1316639" y="63163"/>
                    <a:pt x="1330490" y="96603"/>
                    <a:pt x="1330490" y="131472"/>
                  </a:cubicBezTo>
                  <a:lnTo>
                    <a:pt x="1330490" y="131472"/>
                  </a:lnTo>
                  <a:cubicBezTo>
                    <a:pt x="1330490" y="204082"/>
                    <a:pt x="1271628" y="262944"/>
                    <a:pt x="1199018" y="262944"/>
                  </a:cubicBezTo>
                  <a:lnTo>
                    <a:pt x="131472" y="262944"/>
                  </a:lnTo>
                  <a:cubicBezTo>
                    <a:pt x="58862" y="262944"/>
                    <a:pt x="0" y="204082"/>
                    <a:pt x="0" y="131472"/>
                  </a:cubicBezTo>
                  <a:lnTo>
                    <a:pt x="0" y="131472"/>
                  </a:lnTo>
                  <a:cubicBezTo>
                    <a:pt x="0" y="58862"/>
                    <a:pt x="58862" y="0"/>
                    <a:pt x="131472" y="0"/>
                  </a:cubicBezTo>
                  <a:close/>
                </a:path>
              </a:pathLst>
            </a:custGeom>
            <a:solidFill>
              <a:srgbClr val="F1F0EF"/>
            </a:solidFill>
            <a:ln w="5715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30490" cy="31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929843" y="4176774"/>
            <a:ext cx="4744273" cy="937607"/>
            <a:chOff x="0" y="0"/>
            <a:chExt cx="1330490" cy="2629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30490" cy="262944"/>
            </a:xfrm>
            <a:custGeom>
              <a:avLst/>
              <a:gdLst/>
              <a:ahLst/>
              <a:cxnLst/>
              <a:rect l="l" t="t" r="r" b="b"/>
              <a:pathLst>
                <a:path w="1330490" h="262944">
                  <a:moveTo>
                    <a:pt x="131472" y="0"/>
                  </a:moveTo>
                  <a:lnTo>
                    <a:pt x="1199018" y="0"/>
                  </a:lnTo>
                  <a:cubicBezTo>
                    <a:pt x="1233887" y="0"/>
                    <a:pt x="1267327" y="13851"/>
                    <a:pt x="1291983" y="38507"/>
                  </a:cubicBezTo>
                  <a:cubicBezTo>
                    <a:pt x="1316639" y="63163"/>
                    <a:pt x="1330490" y="96603"/>
                    <a:pt x="1330490" y="131472"/>
                  </a:cubicBezTo>
                  <a:lnTo>
                    <a:pt x="1330490" y="131472"/>
                  </a:lnTo>
                  <a:cubicBezTo>
                    <a:pt x="1330490" y="204082"/>
                    <a:pt x="1271628" y="262944"/>
                    <a:pt x="1199018" y="262944"/>
                  </a:cubicBezTo>
                  <a:lnTo>
                    <a:pt x="131472" y="262944"/>
                  </a:lnTo>
                  <a:cubicBezTo>
                    <a:pt x="58862" y="262944"/>
                    <a:pt x="0" y="204082"/>
                    <a:pt x="0" y="131472"/>
                  </a:cubicBezTo>
                  <a:lnTo>
                    <a:pt x="0" y="131472"/>
                  </a:lnTo>
                  <a:cubicBezTo>
                    <a:pt x="0" y="58862"/>
                    <a:pt x="58862" y="0"/>
                    <a:pt x="131472" y="0"/>
                  </a:cubicBezTo>
                  <a:close/>
                </a:path>
              </a:pathLst>
            </a:custGeom>
            <a:solidFill>
              <a:srgbClr val="F1F0EF"/>
            </a:solidFill>
            <a:ln w="5715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330490" cy="31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886528" y="6730742"/>
            <a:ext cx="4744273" cy="937607"/>
            <a:chOff x="0" y="0"/>
            <a:chExt cx="1330490" cy="2629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30490" cy="262944"/>
            </a:xfrm>
            <a:custGeom>
              <a:avLst/>
              <a:gdLst/>
              <a:ahLst/>
              <a:cxnLst/>
              <a:rect l="l" t="t" r="r" b="b"/>
              <a:pathLst>
                <a:path w="1330490" h="262944">
                  <a:moveTo>
                    <a:pt x="131472" y="0"/>
                  </a:moveTo>
                  <a:lnTo>
                    <a:pt x="1199018" y="0"/>
                  </a:lnTo>
                  <a:cubicBezTo>
                    <a:pt x="1233887" y="0"/>
                    <a:pt x="1267327" y="13851"/>
                    <a:pt x="1291983" y="38507"/>
                  </a:cubicBezTo>
                  <a:cubicBezTo>
                    <a:pt x="1316639" y="63163"/>
                    <a:pt x="1330490" y="96603"/>
                    <a:pt x="1330490" y="131472"/>
                  </a:cubicBezTo>
                  <a:lnTo>
                    <a:pt x="1330490" y="131472"/>
                  </a:lnTo>
                  <a:cubicBezTo>
                    <a:pt x="1330490" y="204082"/>
                    <a:pt x="1271628" y="262944"/>
                    <a:pt x="1199018" y="262944"/>
                  </a:cubicBezTo>
                  <a:lnTo>
                    <a:pt x="131472" y="262944"/>
                  </a:lnTo>
                  <a:cubicBezTo>
                    <a:pt x="58862" y="262944"/>
                    <a:pt x="0" y="204082"/>
                    <a:pt x="0" y="131472"/>
                  </a:cubicBezTo>
                  <a:lnTo>
                    <a:pt x="0" y="131472"/>
                  </a:lnTo>
                  <a:cubicBezTo>
                    <a:pt x="0" y="58862"/>
                    <a:pt x="58862" y="0"/>
                    <a:pt x="131472" y="0"/>
                  </a:cubicBezTo>
                  <a:close/>
                </a:path>
              </a:pathLst>
            </a:custGeom>
            <a:solidFill>
              <a:srgbClr val="F1F0EF"/>
            </a:solidFill>
            <a:ln w="57150" cap="rnd">
              <a:solidFill>
                <a:srgbClr val="3C7CCB"/>
              </a:solidFill>
              <a:prstDash val="solid"/>
              <a:round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330490" cy="310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44496" y="2548526"/>
            <a:ext cx="5582302" cy="1160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9"/>
              </a:lnSpc>
              <a:spcBef>
                <a:spcPct val="0"/>
              </a:spcBef>
            </a:pPr>
            <a:r>
              <a:rPr lang="en-US" sz="6799">
                <a:solidFill>
                  <a:srgbClr val="3C7C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Perspectives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49703" y="2742229"/>
            <a:ext cx="6681898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Utiliser un dataset plus large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Ajouter de nouvelles variables : secteur, ancienneté, effectif, marché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71449" y="1660887"/>
            <a:ext cx="4374431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5"/>
              </a:lnSpc>
            </a:pPr>
            <a:r>
              <a:rPr lang="en-US" sz="2500" b="1">
                <a:solidFill>
                  <a:srgbClr val="3C7CCB"/>
                </a:solidFill>
                <a:latin typeface="Poppins Bold"/>
                <a:ea typeface="Poppins Bold"/>
                <a:cs typeface="Poppins Bold"/>
                <a:sym typeface="Poppins Bold"/>
              </a:rPr>
              <a:t>Enrichissement des données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14764" y="4370685"/>
            <a:ext cx="4374431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3C7CCB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 plus robuste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71449" y="6936020"/>
            <a:ext cx="4374431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3C7CCB"/>
                </a:solidFill>
                <a:latin typeface="Poppins Bold"/>
                <a:ea typeface="Poppins Bold"/>
                <a:cs typeface="Poppins Bold"/>
                <a:sym typeface="Poppins Bold"/>
              </a:rPr>
              <a:t>Modèles complémentaires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36860" y="5356403"/>
            <a:ext cx="7107583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Utiliser la validation croisée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Tester le modèle sur d’autres jeux de données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849703" y="7782649"/>
            <a:ext cx="6425972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Tester des modèles non linéaires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Arbres de décision, Random Forest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b="1">
                <a:solidFill>
                  <a:srgbClr val="1F2023"/>
                </a:solidFill>
                <a:latin typeface="Poppins Bold"/>
                <a:ea typeface="Poppins Bold"/>
                <a:cs typeface="Poppins Bold"/>
                <a:sym typeface="Poppins Bold"/>
              </a:rPr>
              <a:t>Méthodes de boosting</a:t>
            </a: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/>
          <p:cNvSpPr/>
          <p:nvPr/>
        </p:nvSpPr>
        <p:spPr>
          <a:xfrm flipV="1">
            <a:off x="6239568" y="-2178379"/>
            <a:ext cx="12205333" cy="4714310"/>
          </a:xfrm>
          <a:custGeom>
            <a:avLst/>
            <a:gdLst/>
            <a:ahLst/>
            <a:cxnLst/>
            <a:rect l="l" t="t" r="r" b="b"/>
            <a:pathLst>
              <a:path w="12205333" h="4714310">
                <a:moveTo>
                  <a:pt x="0" y="4714309"/>
                </a:moveTo>
                <a:lnTo>
                  <a:pt x="12205333" y="4714309"/>
                </a:lnTo>
                <a:lnTo>
                  <a:pt x="12205333" y="0"/>
                </a:lnTo>
                <a:lnTo>
                  <a:pt x="0" y="0"/>
                </a:lnTo>
                <a:lnTo>
                  <a:pt x="0" y="47143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4" name="Group 4"/>
          <p:cNvGrpSpPr/>
          <p:nvPr/>
        </p:nvGrpSpPr>
        <p:grpSpPr>
          <a:xfrm>
            <a:off x="-1551520" y="7676911"/>
            <a:ext cx="2749812" cy="274981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000E24">
                  <a:alpha val="3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5316555">
            <a:off x="17345627" y="385236"/>
            <a:ext cx="796038" cy="479487"/>
          </a:xfrm>
          <a:custGeom>
            <a:avLst/>
            <a:gdLst/>
            <a:ahLst/>
            <a:cxnLst/>
            <a:rect l="l" t="t" r="r" b="b"/>
            <a:pathLst>
              <a:path w="796038" h="479487">
                <a:moveTo>
                  <a:pt x="0" y="0"/>
                </a:moveTo>
                <a:lnTo>
                  <a:pt x="796038" y="0"/>
                </a:lnTo>
                <a:lnTo>
                  <a:pt x="796038" y="479487"/>
                </a:lnTo>
                <a:lnTo>
                  <a:pt x="0" y="4794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52475" b="-151872"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8" name="TextBox 8"/>
          <p:cNvSpPr txBox="1"/>
          <p:nvPr/>
        </p:nvSpPr>
        <p:spPr>
          <a:xfrm>
            <a:off x="1198293" y="3428628"/>
            <a:ext cx="7149456" cy="367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91"/>
              </a:lnSpc>
            </a:pPr>
            <a:r>
              <a:rPr lang="en-US" sz="8400" dirty="0">
                <a:solidFill>
                  <a:schemeClr val="tx2">
                    <a:lumMod val="60000"/>
                    <a:lumOff val="40000"/>
                  </a:scheme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MERCI POUR VOTRE ATTENTION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75538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22</a:t>
            </a:r>
          </a:p>
        </p:txBody>
      </p:sp>
      <p:sp>
        <p:nvSpPr>
          <p:cNvPr id="10" name="Freeform 10"/>
          <p:cNvSpPr/>
          <p:nvPr/>
        </p:nvSpPr>
        <p:spPr>
          <a:xfrm rot="-381786">
            <a:off x="7760980" y="6901145"/>
            <a:ext cx="12205333" cy="4714310"/>
          </a:xfrm>
          <a:custGeom>
            <a:avLst/>
            <a:gdLst/>
            <a:ahLst/>
            <a:cxnLst/>
            <a:rect l="l" t="t" r="r" b="b"/>
            <a:pathLst>
              <a:path w="12205333" h="4714310">
                <a:moveTo>
                  <a:pt x="0" y="0"/>
                </a:moveTo>
                <a:lnTo>
                  <a:pt x="12205333" y="0"/>
                </a:lnTo>
                <a:lnTo>
                  <a:pt x="12205333" y="4714310"/>
                </a:lnTo>
                <a:lnTo>
                  <a:pt x="0" y="4714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1" name="Freeform 11"/>
          <p:cNvSpPr/>
          <p:nvPr/>
        </p:nvSpPr>
        <p:spPr>
          <a:xfrm>
            <a:off x="11955726" y="7946275"/>
            <a:ext cx="3849023" cy="1068104"/>
          </a:xfrm>
          <a:custGeom>
            <a:avLst/>
            <a:gdLst/>
            <a:ahLst/>
            <a:cxnLst/>
            <a:rect l="l" t="t" r="r" b="b"/>
            <a:pathLst>
              <a:path w="3849023" h="1068104">
                <a:moveTo>
                  <a:pt x="0" y="0"/>
                </a:moveTo>
                <a:lnTo>
                  <a:pt x="3849023" y="0"/>
                </a:lnTo>
                <a:lnTo>
                  <a:pt x="3849023" y="1068104"/>
                </a:lnTo>
                <a:lnTo>
                  <a:pt x="0" y="10681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12" name="Group 12"/>
          <p:cNvGrpSpPr/>
          <p:nvPr/>
        </p:nvGrpSpPr>
        <p:grpSpPr>
          <a:xfrm>
            <a:off x="11130991" y="2523472"/>
            <a:ext cx="5767628" cy="5767628"/>
            <a:chOff x="0" y="0"/>
            <a:chExt cx="7690170" cy="769017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690170" cy="7690170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1B68C9">
                      <a:alpha val="100000"/>
                    </a:srgbClr>
                  </a:gs>
                  <a:gs pos="50000">
                    <a:srgbClr val="6797CC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57202" y="257202"/>
              <a:ext cx="7175767" cy="7175767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1143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LID4096"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827556" y="389861"/>
            <a:ext cx="2961473" cy="1817604"/>
          </a:xfrm>
          <a:custGeom>
            <a:avLst/>
            <a:gdLst/>
            <a:ahLst/>
            <a:cxnLst/>
            <a:rect l="l" t="t" r="r" b="b"/>
            <a:pathLst>
              <a:path w="2961473" h="1817604">
                <a:moveTo>
                  <a:pt x="0" y="0"/>
                </a:moveTo>
                <a:lnTo>
                  <a:pt x="2961474" y="0"/>
                </a:lnTo>
                <a:lnTo>
                  <a:pt x="2961474" y="1817604"/>
                </a:lnTo>
                <a:lnTo>
                  <a:pt x="0" y="1817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9" name="Freeform 19"/>
          <p:cNvSpPr/>
          <p:nvPr/>
        </p:nvSpPr>
        <p:spPr>
          <a:xfrm>
            <a:off x="4102941" y="206191"/>
            <a:ext cx="2817898" cy="2184944"/>
          </a:xfrm>
          <a:custGeom>
            <a:avLst/>
            <a:gdLst/>
            <a:ahLst/>
            <a:cxnLst/>
            <a:rect l="l" t="t" r="r" b="b"/>
            <a:pathLst>
              <a:path w="2817898" h="2184944">
                <a:moveTo>
                  <a:pt x="0" y="0"/>
                </a:moveTo>
                <a:lnTo>
                  <a:pt x="2817898" y="0"/>
                </a:lnTo>
                <a:lnTo>
                  <a:pt x="2817898" y="2184944"/>
                </a:lnTo>
                <a:lnTo>
                  <a:pt x="0" y="21849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16"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20" name="Group 20"/>
          <p:cNvGrpSpPr/>
          <p:nvPr/>
        </p:nvGrpSpPr>
        <p:grpSpPr>
          <a:xfrm>
            <a:off x="15293508" y="2523472"/>
            <a:ext cx="1605111" cy="160511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68C9">
                    <a:alpha val="100000"/>
                  </a:srgbClr>
                </a:gs>
                <a:gs pos="50000">
                  <a:srgbClr val="6797C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648</Words>
  <Application>Microsoft Office PowerPoint</Application>
  <PresentationFormat>Custom</PresentationFormat>
  <Paragraphs>158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Poppins</vt:lpstr>
      <vt:lpstr>Calibri</vt:lpstr>
      <vt:lpstr>League Spartan</vt:lpstr>
      <vt:lpstr>Canva Sans Bold</vt:lpstr>
      <vt:lpstr>Roboto Bold</vt:lpstr>
      <vt:lpstr>Poppins Bold</vt:lpstr>
      <vt:lpstr>Roboto Mono Bold</vt:lpstr>
      <vt:lpstr>Arial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pfa</dc:title>
  <cp:lastModifiedBy>Katr Nada MAATALLAH</cp:lastModifiedBy>
  <cp:revision>2</cp:revision>
  <dcterms:created xsi:type="dcterms:W3CDTF">2006-08-16T00:00:00Z</dcterms:created>
  <dcterms:modified xsi:type="dcterms:W3CDTF">2026-05-28T16:11:24Z</dcterms:modified>
  <dc:identifier>DAHJp3JpGmc</dc:identifier>
</cp:coreProperties>
</file>